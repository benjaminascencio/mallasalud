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Bitter" panose="020B0604020202020204" charset="0"/>
      <p:regular r:id="rId10"/>
    </p:embeddedFont>
    <p:embeddedFont>
      <p:font typeface="Bitter 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133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5.png"/><Relationship Id="rId7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sv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sv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EFe2z36KhCo?feature=oembed" TargetMode="External"/><Relationship Id="rId6" Type="http://schemas.openxmlformats.org/officeDocument/2006/relationships/image" Target="../media/image22.jpe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647259" y="2157412"/>
            <a:ext cx="4993481" cy="557212"/>
            <a:chOff x="0" y="0"/>
            <a:chExt cx="6657975" cy="7429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657975" cy="742950"/>
            </a:xfrm>
            <a:custGeom>
              <a:avLst/>
              <a:gdLst/>
              <a:ahLst/>
              <a:cxnLst/>
              <a:rect l="l" t="t" r="r" b="b"/>
              <a:pathLst>
                <a:path w="6657975" h="742950">
                  <a:moveTo>
                    <a:pt x="0" y="371475"/>
                  </a:moveTo>
                  <a:cubicBezTo>
                    <a:pt x="0" y="166370"/>
                    <a:pt x="166370" y="0"/>
                    <a:pt x="371475" y="0"/>
                  </a:cubicBezTo>
                  <a:lnTo>
                    <a:pt x="6286500" y="0"/>
                  </a:lnTo>
                  <a:cubicBezTo>
                    <a:pt x="6491605" y="0"/>
                    <a:pt x="6657975" y="166370"/>
                    <a:pt x="6657975" y="371475"/>
                  </a:cubicBezTo>
                  <a:cubicBezTo>
                    <a:pt x="6657975" y="576580"/>
                    <a:pt x="6491605" y="742950"/>
                    <a:pt x="6286500" y="742950"/>
                  </a:cubicBezTo>
                  <a:lnTo>
                    <a:pt x="371475" y="742950"/>
                  </a:lnTo>
                  <a:cubicBezTo>
                    <a:pt x="166370" y="742950"/>
                    <a:pt x="0" y="576580"/>
                    <a:pt x="0" y="371475"/>
                  </a:cubicBezTo>
                  <a:close/>
                </a:path>
              </a:pathLst>
            </a:custGeom>
            <a:solidFill>
              <a:srgbClr val="0D4B38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579019" y="6843712"/>
            <a:ext cx="11129962" cy="1300162"/>
            <a:chOff x="0" y="0"/>
            <a:chExt cx="14839950" cy="17335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839950" cy="1733550"/>
            </a:xfrm>
            <a:custGeom>
              <a:avLst/>
              <a:gdLst/>
              <a:ahLst/>
              <a:cxnLst/>
              <a:rect l="l" t="t" r="r" b="b"/>
              <a:pathLst>
                <a:path w="14839950" h="1733550">
                  <a:moveTo>
                    <a:pt x="0" y="311658"/>
                  </a:moveTo>
                  <a:cubicBezTo>
                    <a:pt x="0" y="139573"/>
                    <a:pt x="139573" y="0"/>
                    <a:pt x="311658" y="0"/>
                  </a:cubicBezTo>
                  <a:lnTo>
                    <a:pt x="14528292" y="0"/>
                  </a:lnTo>
                  <a:cubicBezTo>
                    <a:pt x="14700377" y="0"/>
                    <a:pt x="14839950" y="139573"/>
                    <a:pt x="14839950" y="311658"/>
                  </a:cubicBezTo>
                  <a:lnTo>
                    <a:pt x="14839950" y="1421892"/>
                  </a:lnTo>
                  <a:cubicBezTo>
                    <a:pt x="14839950" y="1593977"/>
                    <a:pt x="14700377" y="1733550"/>
                    <a:pt x="14528292" y="1733550"/>
                  </a:cubicBezTo>
                  <a:lnTo>
                    <a:pt x="311658" y="1733550"/>
                  </a:lnTo>
                  <a:cubicBezTo>
                    <a:pt x="139573" y="1733550"/>
                    <a:pt x="0" y="1593977"/>
                    <a:pt x="0" y="1421892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4DED9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94081" y="7208044"/>
            <a:ext cx="28575" cy="571500"/>
            <a:chOff x="0" y="0"/>
            <a:chExt cx="38100" cy="762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8100" cy="762000"/>
            </a:xfrm>
            <a:custGeom>
              <a:avLst/>
              <a:gdLst/>
              <a:ahLst/>
              <a:cxnLst/>
              <a:rect l="l" t="t" r="r" b="b"/>
              <a:pathLst>
                <a:path w="38100" h="762000">
                  <a:moveTo>
                    <a:pt x="0" y="0"/>
                  </a:moveTo>
                  <a:lnTo>
                    <a:pt x="38100" y="0"/>
                  </a:lnTo>
                  <a:lnTo>
                    <a:pt x="381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D4DED9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821656" y="5276850"/>
            <a:ext cx="14644688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2925" dirty="0">
                <a:solidFill>
                  <a:srgbClr val="1C352D"/>
                </a:solidFill>
                <a:latin typeface="Bitter"/>
                <a:ea typeface="Bitter"/>
                <a:cs typeface="Bitter"/>
                <a:sym typeface="Bitter"/>
              </a:rPr>
              <a:t>Sistema integral </a:t>
            </a:r>
            <a:r>
              <a:rPr lang="en-US" sz="2925" dirty="0" err="1">
                <a:solidFill>
                  <a:srgbClr val="1C352D"/>
                </a:solidFill>
                <a:latin typeface="Bitter"/>
                <a:ea typeface="Bitter"/>
                <a:cs typeface="Bitter"/>
                <a:sym typeface="Bitter"/>
              </a:rPr>
              <a:t>multicanal</a:t>
            </a:r>
            <a:r>
              <a:rPr lang="en-US" sz="2925" dirty="0">
                <a:solidFill>
                  <a:srgbClr val="1C352D"/>
                </a:solidFill>
                <a:latin typeface="Bitter"/>
                <a:ea typeface="Bitter"/>
                <a:cs typeface="Bitter"/>
                <a:sym typeface="Bitter"/>
              </a:rPr>
              <a:t> para la </a:t>
            </a:r>
            <a:r>
              <a:rPr lang="en-US" sz="2925" dirty="0" err="1">
                <a:solidFill>
                  <a:srgbClr val="1C352D"/>
                </a:solidFill>
                <a:latin typeface="Bitter"/>
                <a:ea typeface="Bitter"/>
                <a:cs typeface="Bitter"/>
                <a:sym typeface="Bitter"/>
              </a:rPr>
              <a:t>gestión</a:t>
            </a:r>
            <a:r>
              <a:rPr lang="en-US" sz="2925" dirty="0">
                <a:solidFill>
                  <a:srgbClr val="1C352D"/>
                </a:solidFill>
                <a:latin typeface="Bitter"/>
                <a:ea typeface="Bitter"/>
                <a:cs typeface="Bitter"/>
                <a:sym typeface="Bitter"/>
              </a:rPr>
              <a:t>, </a:t>
            </a:r>
            <a:r>
              <a:rPr lang="en-US" sz="2925" dirty="0" err="1">
                <a:solidFill>
                  <a:srgbClr val="1C352D"/>
                </a:solidFill>
                <a:latin typeface="Bitter"/>
                <a:ea typeface="Bitter"/>
                <a:cs typeface="Bitter"/>
                <a:sym typeface="Bitter"/>
              </a:rPr>
              <a:t>distribución</a:t>
            </a:r>
            <a:r>
              <a:rPr lang="en-US" sz="2925" dirty="0">
                <a:solidFill>
                  <a:srgbClr val="1C352D"/>
                </a:solidFill>
                <a:latin typeface="Bitter"/>
                <a:ea typeface="Bitter"/>
                <a:cs typeface="Bitter"/>
                <a:sym typeface="Bitter"/>
              </a:rPr>
              <a:t> y </a:t>
            </a:r>
            <a:r>
              <a:rPr lang="en-US" sz="2925" dirty="0" err="1">
                <a:solidFill>
                  <a:srgbClr val="1C352D"/>
                </a:solidFill>
                <a:latin typeface="Bitter"/>
                <a:ea typeface="Bitter"/>
                <a:cs typeface="Bitter"/>
                <a:sym typeface="Bitter"/>
              </a:rPr>
              <a:t>reserva</a:t>
            </a:r>
            <a:r>
              <a:rPr lang="en-US" sz="2925" dirty="0">
                <a:solidFill>
                  <a:srgbClr val="1C352D"/>
                </a:solidFill>
                <a:latin typeface="Bitter"/>
                <a:ea typeface="Bitter"/>
                <a:cs typeface="Bitter"/>
                <a:sym typeface="Bitter"/>
              </a:rPr>
              <a:t> de horas </a:t>
            </a:r>
            <a:r>
              <a:rPr lang="en-US" sz="2925" dirty="0" err="1">
                <a:solidFill>
                  <a:srgbClr val="1C352D"/>
                </a:solidFill>
                <a:latin typeface="Bitter"/>
                <a:ea typeface="Bitter"/>
                <a:cs typeface="Bitter"/>
                <a:sym typeface="Bitter"/>
              </a:rPr>
              <a:t>médicas</a:t>
            </a:r>
            <a:r>
              <a:rPr lang="en-US" sz="2925" dirty="0">
                <a:solidFill>
                  <a:srgbClr val="1C352D"/>
                </a:solidFill>
                <a:latin typeface="Bitter"/>
                <a:ea typeface="Bitter"/>
                <a:cs typeface="Bitter"/>
                <a:sym typeface="Bitter"/>
              </a:rPr>
              <a:t> </a:t>
            </a:r>
            <a:r>
              <a:rPr lang="en-US" sz="2925" dirty="0" err="1">
                <a:solidFill>
                  <a:srgbClr val="1C352D"/>
                </a:solidFill>
                <a:latin typeface="Bitter"/>
                <a:ea typeface="Bitter"/>
                <a:cs typeface="Bitter"/>
                <a:sym typeface="Bitter"/>
              </a:rPr>
              <a:t>en</a:t>
            </a:r>
            <a:r>
              <a:rPr lang="en-US" sz="2925" dirty="0">
                <a:solidFill>
                  <a:srgbClr val="1C352D"/>
                </a:solidFill>
                <a:latin typeface="Bitter"/>
                <a:ea typeface="Bitter"/>
                <a:cs typeface="Bitter"/>
                <a:sym typeface="Bitter"/>
              </a:rPr>
              <a:t> la </a:t>
            </a:r>
            <a:r>
              <a:rPr lang="en-US" sz="2925" dirty="0" err="1">
                <a:solidFill>
                  <a:srgbClr val="1C352D"/>
                </a:solidFill>
                <a:latin typeface="Bitter"/>
                <a:ea typeface="Bitter"/>
                <a:cs typeface="Bitter"/>
                <a:sym typeface="Bitter"/>
              </a:rPr>
              <a:t>salud</a:t>
            </a:r>
            <a:r>
              <a:rPr lang="en-US" sz="2925" dirty="0">
                <a:solidFill>
                  <a:srgbClr val="1C352D"/>
                </a:solidFill>
                <a:latin typeface="Bitter"/>
                <a:ea typeface="Bitter"/>
                <a:cs typeface="Bitter"/>
                <a:sym typeface="Bitter"/>
              </a:rPr>
              <a:t> publica </a:t>
            </a:r>
            <a:r>
              <a:rPr lang="en-US" sz="2925" dirty="0" err="1">
                <a:solidFill>
                  <a:srgbClr val="1C352D"/>
                </a:solidFill>
                <a:latin typeface="Bitter"/>
                <a:ea typeface="Bitter"/>
                <a:cs typeface="Bitter"/>
                <a:sym typeface="Bitter"/>
              </a:rPr>
              <a:t>primaria</a:t>
            </a:r>
            <a:endParaRPr lang="en-US" sz="2925" dirty="0">
              <a:solidFill>
                <a:srgbClr val="1C352D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707606" y="7172325"/>
            <a:ext cx="6000750" cy="242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1">
                <a:solidFill>
                  <a:srgbClr val="0F172A"/>
                </a:solidFill>
                <a:latin typeface="Bitter Bold"/>
                <a:ea typeface="Bitter Bold"/>
                <a:cs typeface="Bitter Bold"/>
                <a:sym typeface="Bitter Bold"/>
              </a:rPr>
              <a:t>INTEGRANTES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07606" y="7462837"/>
            <a:ext cx="6000750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1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Pablo Carrasco · Benjamín Ascencio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-3010580" y="5590669"/>
            <a:ext cx="9602560" cy="8374424"/>
            <a:chOff x="0" y="0"/>
            <a:chExt cx="12803413" cy="11165899"/>
          </a:xfrm>
        </p:grpSpPr>
        <p:sp>
          <p:nvSpPr>
            <p:cNvPr id="14" name="Freeform 14"/>
            <p:cNvSpPr/>
            <p:nvPr/>
          </p:nvSpPr>
          <p:spPr>
            <a:xfrm flipH="1" flipV="1">
              <a:off x="0" y="0"/>
              <a:ext cx="12803413" cy="8985668"/>
            </a:xfrm>
            <a:custGeom>
              <a:avLst/>
              <a:gdLst/>
              <a:ahLst/>
              <a:cxnLst/>
              <a:rect l="l" t="t" r="r" b="b"/>
              <a:pathLst>
                <a:path w="12803413" h="8985668">
                  <a:moveTo>
                    <a:pt x="12803413" y="8985668"/>
                  </a:moveTo>
                  <a:lnTo>
                    <a:pt x="0" y="8985668"/>
                  </a:lnTo>
                  <a:lnTo>
                    <a:pt x="0" y="0"/>
                  </a:lnTo>
                  <a:lnTo>
                    <a:pt x="12803413" y="0"/>
                  </a:lnTo>
                  <a:lnTo>
                    <a:pt x="12803413" y="8985668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Freeform 15"/>
            <p:cNvSpPr/>
            <p:nvPr/>
          </p:nvSpPr>
          <p:spPr>
            <a:xfrm rot="-8920123">
              <a:off x="1524907" y="5558768"/>
              <a:ext cx="9753600" cy="3312812"/>
            </a:xfrm>
            <a:custGeom>
              <a:avLst/>
              <a:gdLst/>
              <a:ahLst/>
              <a:cxnLst/>
              <a:rect l="l" t="t" r="r" b="b"/>
              <a:pathLst>
                <a:path w="9753600" h="3312812">
                  <a:moveTo>
                    <a:pt x="0" y="0"/>
                  </a:moveTo>
                  <a:lnTo>
                    <a:pt x="9753600" y="0"/>
                  </a:lnTo>
                  <a:lnTo>
                    <a:pt x="9753600" y="3312812"/>
                  </a:lnTo>
                  <a:lnTo>
                    <a:pt x="0" y="33128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6" name="Freeform 16"/>
          <p:cNvSpPr/>
          <p:nvPr/>
        </p:nvSpPr>
        <p:spPr>
          <a:xfrm>
            <a:off x="2667303" y="3124095"/>
            <a:ext cx="2536322" cy="1383881"/>
          </a:xfrm>
          <a:custGeom>
            <a:avLst/>
            <a:gdLst/>
            <a:ahLst/>
            <a:cxnLst/>
            <a:rect l="l" t="t" r="r" b="b"/>
            <a:pathLst>
              <a:path w="2536322" h="1383881">
                <a:moveTo>
                  <a:pt x="0" y="0"/>
                </a:moveTo>
                <a:lnTo>
                  <a:pt x="2536323" y="0"/>
                </a:lnTo>
                <a:lnTo>
                  <a:pt x="2536323" y="1383881"/>
                </a:lnTo>
                <a:lnTo>
                  <a:pt x="0" y="13838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7" name="TextBox 17"/>
          <p:cNvSpPr txBox="1"/>
          <p:nvPr/>
        </p:nvSpPr>
        <p:spPr>
          <a:xfrm>
            <a:off x="3696443" y="3048000"/>
            <a:ext cx="10895114" cy="1481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10"/>
              </a:lnSpc>
            </a:pPr>
            <a:r>
              <a:rPr lang="en-US" sz="9675" b="1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MALLASALUD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23139" y="2290763"/>
            <a:ext cx="5241722" cy="280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FFFFFF"/>
                </a:solidFill>
                <a:latin typeface="Bitter Bold"/>
                <a:ea typeface="Bitter Bold"/>
                <a:cs typeface="Bitter Bold"/>
                <a:sym typeface="Bitter Bold"/>
              </a:rPr>
              <a:t>PROYECTO CAPSTONE · DUOC UC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074469" y="7172325"/>
            <a:ext cx="4339828" cy="242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1">
                <a:solidFill>
                  <a:srgbClr val="0F172A"/>
                </a:solidFill>
                <a:latin typeface="Bitter Bold"/>
                <a:ea typeface="Bitter Bold"/>
                <a:cs typeface="Bitter Bold"/>
                <a:sym typeface="Bitter Bold"/>
              </a:rPr>
              <a:t>CARRERA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074469" y="7462837"/>
            <a:ext cx="4339828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1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Ingeniería en Informática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4390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92521" y="1974535"/>
            <a:ext cx="7972425" cy="714375"/>
            <a:chOff x="0" y="0"/>
            <a:chExt cx="10629900" cy="9525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29900" cy="952500"/>
            </a:xfrm>
            <a:custGeom>
              <a:avLst/>
              <a:gdLst/>
              <a:ahLst/>
              <a:cxnLst/>
              <a:rect l="l" t="t" r="r" b="b"/>
              <a:pathLst>
                <a:path w="10629900" h="9525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10325100" y="0"/>
                  </a:lnTo>
                  <a:cubicBezTo>
                    <a:pt x="10493375" y="0"/>
                    <a:pt x="10629900" y="136525"/>
                    <a:pt x="10629900" y="304800"/>
                  </a:cubicBezTo>
                  <a:lnTo>
                    <a:pt x="10629900" y="647700"/>
                  </a:lnTo>
                  <a:cubicBezTo>
                    <a:pt x="10629900" y="815975"/>
                    <a:pt x="10493375" y="952500"/>
                    <a:pt x="10325100" y="952500"/>
                  </a:cubicBezTo>
                  <a:lnTo>
                    <a:pt x="304800" y="952500"/>
                  </a:lnTo>
                  <a:cubicBezTo>
                    <a:pt x="136525" y="952500"/>
                    <a:pt x="0" y="815975"/>
                    <a:pt x="0" y="647700"/>
                  </a:cubicBezTo>
                  <a:close/>
                </a:path>
              </a:pathLst>
            </a:custGeom>
            <a:solidFill>
              <a:srgbClr val="14533C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78234" y="2817497"/>
            <a:ext cx="7986712" cy="2582672"/>
            <a:chOff x="0" y="0"/>
            <a:chExt cx="10648950" cy="35369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48950" cy="3536950"/>
            </a:xfrm>
            <a:custGeom>
              <a:avLst/>
              <a:gdLst/>
              <a:ahLst/>
              <a:cxnLst/>
              <a:rect l="l" t="t" r="r" b="b"/>
              <a:pathLst>
                <a:path w="10648950" h="3536950">
                  <a:moveTo>
                    <a:pt x="0" y="471593"/>
                  </a:moveTo>
                  <a:cubicBezTo>
                    <a:pt x="0" y="211105"/>
                    <a:pt x="120523" y="0"/>
                    <a:pt x="269240" y="0"/>
                  </a:cubicBezTo>
                  <a:lnTo>
                    <a:pt x="10379710" y="0"/>
                  </a:lnTo>
                  <a:cubicBezTo>
                    <a:pt x="10528427" y="0"/>
                    <a:pt x="10648950" y="211105"/>
                    <a:pt x="10648950" y="471593"/>
                  </a:cubicBezTo>
                  <a:lnTo>
                    <a:pt x="10648950" y="3065357"/>
                  </a:lnTo>
                  <a:cubicBezTo>
                    <a:pt x="10648950" y="3325845"/>
                    <a:pt x="10528427" y="3536950"/>
                    <a:pt x="10379710" y="3536950"/>
                  </a:cubicBezTo>
                  <a:lnTo>
                    <a:pt x="269240" y="3536950"/>
                  </a:lnTo>
                  <a:cubicBezTo>
                    <a:pt x="120523" y="3536950"/>
                    <a:pt x="0" y="3325845"/>
                    <a:pt x="0" y="3065357"/>
                  </a:cubicBezTo>
                  <a:close/>
                </a:path>
              </a:pathLst>
            </a:custGeom>
            <a:blipFill>
              <a:blip r:embed="rId3"/>
              <a:stretch>
                <a:fillRect t="-148" b="-148"/>
              </a:stretch>
            </a:blipFill>
            <a:ln w="14288" cap="sq">
              <a:solidFill>
                <a:srgbClr val="DCE4E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78234" y="5590669"/>
            <a:ext cx="7986712" cy="1895475"/>
            <a:chOff x="0" y="0"/>
            <a:chExt cx="10648950" cy="25273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648950" cy="2527300"/>
            </a:xfrm>
            <a:custGeom>
              <a:avLst/>
              <a:gdLst/>
              <a:ahLst/>
              <a:cxnLst/>
              <a:rect l="l" t="t" r="r" b="b"/>
              <a:pathLst>
                <a:path w="10648950" h="2527300">
                  <a:moveTo>
                    <a:pt x="0" y="336973"/>
                  </a:moveTo>
                  <a:cubicBezTo>
                    <a:pt x="0" y="150843"/>
                    <a:pt x="120523" y="0"/>
                    <a:pt x="269240" y="0"/>
                  </a:cubicBezTo>
                  <a:lnTo>
                    <a:pt x="10379710" y="0"/>
                  </a:lnTo>
                  <a:cubicBezTo>
                    <a:pt x="10528427" y="0"/>
                    <a:pt x="10648950" y="150843"/>
                    <a:pt x="10648950" y="336973"/>
                  </a:cubicBezTo>
                  <a:lnTo>
                    <a:pt x="10648950" y="2190327"/>
                  </a:lnTo>
                  <a:cubicBezTo>
                    <a:pt x="10648950" y="2376457"/>
                    <a:pt x="10528427" y="2527300"/>
                    <a:pt x="10379710" y="2527300"/>
                  </a:cubicBezTo>
                  <a:lnTo>
                    <a:pt x="269240" y="2527300"/>
                  </a:lnTo>
                  <a:cubicBezTo>
                    <a:pt x="120523" y="2527300"/>
                    <a:pt x="0" y="2376457"/>
                    <a:pt x="0" y="2190327"/>
                  </a:cubicBezTo>
                  <a:close/>
                </a:path>
              </a:pathLst>
            </a:custGeom>
            <a:blipFill>
              <a:blip r:embed="rId4"/>
              <a:stretch>
                <a:fillRect l="-492" r="-2415"/>
              </a:stretch>
            </a:blipFill>
            <a:ln w="14288" cap="sq">
              <a:solidFill>
                <a:srgbClr val="DCE4E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369771" y="1972153"/>
            <a:ext cx="7972425" cy="714375"/>
            <a:chOff x="0" y="0"/>
            <a:chExt cx="10629900" cy="9525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629900" cy="952500"/>
            </a:xfrm>
            <a:custGeom>
              <a:avLst/>
              <a:gdLst/>
              <a:ahLst/>
              <a:cxnLst/>
              <a:rect l="l" t="t" r="r" b="b"/>
              <a:pathLst>
                <a:path w="10629900" h="9525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10325100" y="0"/>
                  </a:lnTo>
                  <a:cubicBezTo>
                    <a:pt x="10493375" y="0"/>
                    <a:pt x="10629900" y="136525"/>
                    <a:pt x="10629900" y="304800"/>
                  </a:cubicBezTo>
                  <a:lnTo>
                    <a:pt x="10629900" y="647700"/>
                  </a:lnTo>
                  <a:cubicBezTo>
                    <a:pt x="10629900" y="815975"/>
                    <a:pt x="10493375" y="952500"/>
                    <a:pt x="10325100" y="952500"/>
                  </a:cubicBezTo>
                  <a:lnTo>
                    <a:pt x="304800" y="952500"/>
                  </a:lnTo>
                  <a:cubicBezTo>
                    <a:pt x="136525" y="952500"/>
                    <a:pt x="0" y="815975"/>
                    <a:pt x="0" y="647700"/>
                  </a:cubicBezTo>
                  <a:close/>
                </a:path>
              </a:pathLst>
            </a:custGeom>
            <a:solidFill>
              <a:srgbClr val="8C2323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372152" y="2817497"/>
            <a:ext cx="7986712" cy="1514475"/>
            <a:chOff x="0" y="0"/>
            <a:chExt cx="10648950" cy="20193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648950" cy="2019300"/>
            </a:xfrm>
            <a:custGeom>
              <a:avLst/>
              <a:gdLst/>
              <a:ahLst/>
              <a:cxnLst/>
              <a:rect l="l" t="t" r="r" b="b"/>
              <a:pathLst>
                <a:path w="10648950" h="2019300">
                  <a:moveTo>
                    <a:pt x="0" y="269240"/>
                  </a:moveTo>
                  <a:cubicBezTo>
                    <a:pt x="0" y="120523"/>
                    <a:pt x="120523" y="0"/>
                    <a:pt x="269240" y="0"/>
                  </a:cubicBezTo>
                  <a:lnTo>
                    <a:pt x="10379710" y="0"/>
                  </a:lnTo>
                  <a:cubicBezTo>
                    <a:pt x="10528427" y="0"/>
                    <a:pt x="10648950" y="120523"/>
                    <a:pt x="10648950" y="269240"/>
                  </a:cubicBezTo>
                  <a:lnTo>
                    <a:pt x="10648950" y="1750060"/>
                  </a:lnTo>
                  <a:cubicBezTo>
                    <a:pt x="10648950" y="1898777"/>
                    <a:pt x="10528427" y="2019300"/>
                    <a:pt x="10379710" y="2019300"/>
                  </a:cubicBezTo>
                  <a:lnTo>
                    <a:pt x="269240" y="2019300"/>
                  </a:lnTo>
                  <a:cubicBezTo>
                    <a:pt x="120523" y="2019300"/>
                    <a:pt x="0" y="1898777"/>
                    <a:pt x="0" y="1750060"/>
                  </a:cubicBezTo>
                  <a:close/>
                </a:path>
              </a:pathLst>
            </a:custGeom>
            <a:blipFill>
              <a:blip r:embed="rId5"/>
              <a:stretch>
                <a:fillRect l="-163" t="-13691" b="-13691"/>
              </a:stretch>
            </a:blipFill>
            <a:ln w="14288" cap="sq">
              <a:solidFill>
                <a:srgbClr val="E6D3D3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379296" y="4522472"/>
            <a:ext cx="7986712" cy="1693009"/>
            <a:chOff x="0" y="0"/>
            <a:chExt cx="10648950" cy="225734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648950" cy="2257346"/>
            </a:xfrm>
            <a:custGeom>
              <a:avLst/>
              <a:gdLst/>
              <a:ahLst/>
              <a:cxnLst/>
              <a:rect l="l" t="t" r="r" b="b"/>
              <a:pathLst>
                <a:path w="10648950" h="2257346">
                  <a:moveTo>
                    <a:pt x="0" y="300979"/>
                  </a:moveTo>
                  <a:cubicBezTo>
                    <a:pt x="0" y="134731"/>
                    <a:pt x="120523" y="0"/>
                    <a:pt x="269240" y="0"/>
                  </a:cubicBezTo>
                  <a:lnTo>
                    <a:pt x="10379710" y="0"/>
                  </a:lnTo>
                  <a:cubicBezTo>
                    <a:pt x="10528427" y="0"/>
                    <a:pt x="10648950" y="134731"/>
                    <a:pt x="10648950" y="300979"/>
                  </a:cubicBezTo>
                  <a:lnTo>
                    <a:pt x="10648950" y="1956366"/>
                  </a:lnTo>
                  <a:cubicBezTo>
                    <a:pt x="10648950" y="2122615"/>
                    <a:pt x="10528427" y="2257346"/>
                    <a:pt x="10379710" y="2257346"/>
                  </a:cubicBezTo>
                  <a:lnTo>
                    <a:pt x="269240" y="2257346"/>
                  </a:lnTo>
                  <a:cubicBezTo>
                    <a:pt x="120523" y="2257346"/>
                    <a:pt x="0" y="2122615"/>
                    <a:pt x="0" y="1956366"/>
                  </a:cubicBezTo>
                  <a:close/>
                </a:path>
              </a:pathLst>
            </a:custGeom>
            <a:blipFill>
              <a:blip r:embed="rId6"/>
              <a:stretch>
                <a:fillRect t="-120" b="-120"/>
              </a:stretch>
            </a:blipFill>
            <a:ln w="14288" cap="sq">
              <a:solidFill>
                <a:srgbClr val="E6D3D3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379296" y="6405981"/>
            <a:ext cx="8001000" cy="1657350"/>
            <a:chOff x="0" y="0"/>
            <a:chExt cx="10668000" cy="2209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668000" cy="2209800"/>
            </a:xfrm>
            <a:custGeom>
              <a:avLst/>
              <a:gdLst/>
              <a:ahLst/>
              <a:cxnLst/>
              <a:rect l="l" t="t" r="r" b="b"/>
              <a:pathLst>
                <a:path w="10668000" h="2209800">
                  <a:moveTo>
                    <a:pt x="0" y="271399"/>
                  </a:moveTo>
                  <a:cubicBezTo>
                    <a:pt x="0" y="121539"/>
                    <a:pt x="121539" y="0"/>
                    <a:pt x="271399" y="0"/>
                  </a:cubicBezTo>
                  <a:lnTo>
                    <a:pt x="10396601" y="0"/>
                  </a:lnTo>
                  <a:cubicBezTo>
                    <a:pt x="10546461" y="0"/>
                    <a:pt x="10668000" y="121539"/>
                    <a:pt x="10668000" y="271399"/>
                  </a:cubicBezTo>
                  <a:lnTo>
                    <a:pt x="10668000" y="1938401"/>
                  </a:lnTo>
                  <a:cubicBezTo>
                    <a:pt x="10668000" y="2088261"/>
                    <a:pt x="10546461" y="2209800"/>
                    <a:pt x="10396601" y="2209800"/>
                  </a:cubicBezTo>
                  <a:lnTo>
                    <a:pt x="271399" y="2209800"/>
                  </a:lnTo>
                  <a:cubicBezTo>
                    <a:pt x="121539" y="2209800"/>
                    <a:pt x="0" y="2088261"/>
                    <a:pt x="0" y="1938401"/>
                  </a:cubicBezTo>
                  <a:close/>
                </a:path>
              </a:pathLst>
            </a:custGeom>
            <a:solidFill>
              <a:srgbClr val="FDF6F6"/>
            </a:solidFill>
            <a:ln w="28575" cap="sq">
              <a:solidFill>
                <a:srgbClr val="8C2323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-571500" y="514350"/>
            <a:ext cx="19431000" cy="757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4950" b="1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PROBLEMÁTICA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97346" y="2165035"/>
            <a:ext cx="6962775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1">
                <a:solidFill>
                  <a:srgbClr val="FFFFFF"/>
                </a:solidFill>
                <a:latin typeface="Bitter Bold"/>
                <a:ea typeface="Bitter Bold"/>
                <a:cs typeface="Bitter Bold"/>
                <a:sym typeface="Bitter Bold"/>
              </a:rPr>
              <a:t>1. ACCESO Y BRECHA DIGITAL | FILAS DE MADRUGADA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602412" y="2167415"/>
            <a:ext cx="9526191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1" dirty="0">
                <a:solidFill>
                  <a:srgbClr val="FFFFFF"/>
                </a:solidFill>
                <a:latin typeface="Bitter Bold"/>
                <a:ea typeface="Bitter Bold"/>
                <a:cs typeface="Bitter Bold"/>
                <a:sym typeface="Bitter Bold"/>
              </a:rPr>
              <a:t>2. DESERCIÓN (NSP) | PÉRDIDA MASIVA SIN CANCELACIÓN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36484" y="6667919"/>
            <a:ext cx="717014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8C2323"/>
                </a:solidFill>
                <a:latin typeface="Bitter Bold"/>
                <a:ea typeface="Bitter Bold"/>
                <a:cs typeface="Bitter Bold"/>
                <a:sym typeface="Bitter Bold"/>
              </a:rPr>
              <a:t>• 2023: 16,4% NSP (8.785 citas perdidas de 53.460)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736484" y="7067969"/>
            <a:ext cx="7121076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8C2323"/>
                </a:solidFill>
                <a:latin typeface="Bitter Bold"/>
                <a:ea typeface="Bitter Bold"/>
                <a:cs typeface="Bitter Bold"/>
                <a:sym typeface="Bitter Bold"/>
              </a:rPr>
              <a:t>• 2024: 14,0% NSP (8.962 citas perdidas de 62.786)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736484" y="7468019"/>
            <a:ext cx="6581375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8C2323"/>
                </a:solidFill>
                <a:latin typeface="Bitter Bold"/>
                <a:ea typeface="Bitter Bold"/>
                <a:cs typeface="Bitter Bold"/>
                <a:sym typeface="Bitter Bold"/>
              </a:rPr>
              <a:t>• 2025: 15,0% NSP (9.922 citas perdidas)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-2830679" y="5603560"/>
            <a:ext cx="9602560" cy="8374424"/>
            <a:chOff x="0" y="0"/>
            <a:chExt cx="12803413" cy="11165899"/>
          </a:xfrm>
        </p:grpSpPr>
        <p:sp>
          <p:nvSpPr>
            <p:cNvPr id="25" name="Freeform 25"/>
            <p:cNvSpPr/>
            <p:nvPr/>
          </p:nvSpPr>
          <p:spPr>
            <a:xfrm flipH="1" flipV="1">
              <a:off x="0" y="0"/>
              <a:ext cx="12803413" cy="8985668"/>
            </a:xfrm>
            <a:custGeom>
              <a:avLst/>
              <a:gdLst/>
              <a:ahLst/>
              <a:cxnLst/>
              <a:rect l="l" t="t" r="r" b="b"/>
              <a:pathLst>
                <a:path w="12803413" h="8985668">
                  <a:moveTo>
                    <a:pt x="12803413" y="8985668"/>
                  </a:moveTo>
                  <a:lnTo>
                    <a:pt x="0" y="8985668"/>
                  </a:lnTo>
                  <a:lnTo>
                    <a:pt x="0" y="0"/>
                  </a:lnTo>
                  <a:lnTo>
                    <a:pt x="12803413" y="0"/>
                  </a:lnTo>
                  <a:lnTo>
                    <a:pt x="12803413" y="8985668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26" name="Freeform 26"/>
            <p:cNvSpPr/>
            <p:nvPr/>
          </p:nvSpPr>
          <p:spPr>
            <a:xfrm rot="-8920123">
              <a:off x="1524907" y="5558768"/>
              <a:ext cx="9753600" cy="3312812"/>
            </a:xfrm>
            <a:custGeom>
              <a:avLst/>
              <a:gdLst/>
              <a:ahLst/>
              <a:cxnLst/>
              <a:rect l="l" t="t" r="r" b="b"/>
              <a:pathLst>
                <a:path w="9753600" h="3312812">
                  <a:moveTo>
                    <a:pt x="0" y="0"/>
                  </a:moveTo>
                  <a:lnTo>
                    <a:pt x="9753600" y="0"/>
                  </a:lnTo>
                  <a:lnTo>
                    <a:pt x="9753600" y="3312812"/>
                  </a:lnTo>
                  <a:lnTo>
                    <a:pt x="0" y="33128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78234" y="7672388"/>
            <a:ext cx="7986712" cy="1585912"/>
            <a:chOff x="0" y="0"/>
            <a:chExt cx="10648950" cy="211455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648950" cy="2114550"/>
            </a:xfrm>
            <a:custGeom>
              <a:avLst/>
              <a:gdLst/>
              <a:ahLst/>
              <a:cxnLst/>
              <a:rect l="l" t="t" r="r" b="b"/>
              <a:pathLst>
                <a:path w="10648950" h="2114550">
                  <a:moveTo>
                    <a:pt x="0" y="281940"/>
                  </a:moveTo>
                  <a:cubicBezTo>
                    <a:pt x="0" y="126208"/>
                    <a:pt x="120523" y="0"/>
                    <a:pt x="269240" y="0"/>
                  </a:cubicBezTo>
                  <a:lnTo>
                    <a:pt x="10379710" y="0"/>
                  </a:lnTo>
                  <a:cubicBezTo>
                    <a:pt x="10528427" y="0"/>
                    <a:pt x="10648950" y="126208"/>
                    <a:pt x="10648950" y="281940"/>
                  </a:cubicBezTo>
                  <a:lnTo>
                    <a:pt x="10648950" y="1832610"/>
                  </a:lnTo>
                  <a:cubicBezTo>
                    <a:pt x="10648950" y="1988342"/>
                    <a:pt x="10528427" y="2114550"/>
                    <a:pt x="10379710" y="2114550"/>
                  </a:cubicBezTo>
                  <a:lnTo>
                    <a:pt x="269240" y="2114550"/>
                  </a:lnTo>
                  <a:cubicBezTo>
                    <a:pt x="120523" y="2114550"/>
                    <a:pt x="0" y="1988342"/>
                    <a:pt x="0" y="1832610"/>
                  </a:cubicBezTo>
                  <a:close/>
                </a:path>
              </a:pathLst>
            </a:custGeom>
            <a:blipFill>
              <a:blip r:embed="rId9"/>
              <a:stretch>
                <a:fillRect t="-1291" r="-1195" b="-1291"/>
              </a:stretch>
            </a:blipFill>
            <a:ln w="14288" cap="sq">
              <a:solidFill>
                <a:srgbClr val="DCE4E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3010580" y="5590669"/>
            <a:ext cx="9602560" cy="8374424"/>
            <a:chOff x="0" y="0"/>
            <a:chExt cx="12803413" cy="11165899"/>
          </a:xfrm>
        </p:grpSpPr>
        <p:sp>
          <p:nvSpPr>
            <p:cNvPr id="5" name="Freeform 5"/>
            <p:cNvSpPr/>
            <p:nvPr/>
          </p:nvSpPr>
          <p:spPr>
            <a:xfrm flipH="1" flipV="1">
              <a:off x="0" y="0"/>
              <a:ext cx="12803413" cy="8985668"/>
            </a:xfrm>
            <a:custGeom>
              <a:avLst/>
              <a:gdLst/>
              <a:ahLst/>
              <a:cxnLst/>
              <a:rect l="l" t="t" r="r" b="b"/>
              <a:pathLst>
                <a:path w="12803413" h="8985668">
                  <a:moveTo>
                    <a:pt x="12803413" y="8985668"/>
                  </a:moveTo>
                  <a:lnTo>
                    <a:pt x="0" y="8985668"/>
                  </a:lnTo>
                  <a:lnTo>
                    <a:pt x="0" y="0"/>
                  </a:lnTo>
                  <a:lnTo>
                    <a:pt x="12803413" y="0"/>
                  </a:lnTo>
                  <a:lnTo>
                    <a:pt x="12803413" y="8985668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Freeform 6"/>
            <p:cNvSpPr/>
            <p:nvPr/>
          </p:nvSpPr>
          <p:spPr>
            <a:xfrm rot="-8920123">
              <a:off x="1524907" y="5558768"/>
              <a:ext cx="9753600" cy="3312812"/>
            </a:xfrm>
            <a:custGeom>
              <a:avLst/>
              <a:gdLst/>
              <a:ahLst/>
              <a:cxnLst/>
              <a:rect l="l" t="t" r="r" b="b"/>
              <a:pathLst>
                <a:path w="9753600" h="3312812">
                  <a:moveTo>
                    <a:pt x="0" y="0"/>
                  </a:moveTo>
                  <a:lnTo>
                    <a:pt x="9753600" y="0"/>
                  </a:lnTo>
                  <a:lnTo>
                    <a:pt x="9753600" y="3312812"/>
                  </a:lnTo>
                  <a:lnTo>
                    <a:pt x="0" y="33128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85838" y="2082815"/>
            <a:ext cx="5943600" cy="585788"/>
            <a:chOff x="0" y="0"/>
            <a:chExt cx="7924800" cy="7810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924800" cy="781050"/>
            </a:xfrm>
            <a:custGeom>
              <a:avLst/>
              <a:gdLst/>
              <a:ahLst/>
              <a:cxnLst/>
              <a:rect l="l" t="t" r="r" b="b"/>
              <a:pathLst>
                <a:path w="7924800" h="781050">
                  <a:moveTo>
                    <a:pt x="0" y="390525"/>
                  </a:moveTo>
                  <a:cubicBezTo>
                    <a:pt x="0" y="174879"/>
                    <a:pt x="174879" y="0"/>
                    <a:pt x="390525" y="0"/>
                  </a:cubicBezTo>
                  <a:lnTo>
                    <a:pt x="7534275" y="0"/>
                  </a:lnTo>
                  <a:cubicBezTo>
                    <a:pt x="7749921" y="0"/>
                    <a:pt x="7924800" y="174879"/>
                    <a:pt x="7924800" y="390525"/>
                  </a:cubicBezTo>
                  <a:cubicBezTo>
                    <a:pt x="7924800" y="606171"/>
                    <a:pt x="7749921" y="781050"/>
                    <a:pt x="7534275" y="781050"/>
                  </a:cubicBezTo>
                  <a:lnTo>
                    <a:pt x="390525" y="781050"/>
                  </a:lnTo>
                  <a:cubicBezTo>
                    <a:pt x="174879" y="781050"/>
                    <a:pt x="0" y="606171"/>
                    <a:pt x="0" y="390525"/>
                  </a:cubicBezTo>
                  <a:close/>
                </a:path>
              </a:pathLst>
            </a:custGeom>
            <a:solidFill>
              <a:srgbClr val="14533C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358562" y="2082815"/>
            <a:ext cx="5943600" cy="585788"/>
            <a:chOff x="0" y="0"/>
            <a:chExt cx="7924800" cy="7810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924800" cy="781050"/>
            </a:xfrm>
            <a:custGeom>
              <a:avLst/>
              <a:gdLst/>
              <a:ahLst/>
              <a:cxnLst/>
              <a:rect l="l" t="t" r="r" b="b"/>
              <a:pathLst>
                <a:path w="7924800" h="781050">
                  <a:moveTo>
                    <a:pt x="0" y="390525"/>
                  </a:moveTo>
                  <a:cubicBezTo>
                    <a:pt x="0" y="174879"/>
                    <a:pt x="174879" y="0"/>
                    <a:pt x="390525" y="0"/>
                  </a:cubicBezTo>
                  <a:lnTo>
                    <a:pt x="7534275" y="0"/>
                  </a:lnTo>
                  <a:cubicBezTo>
                    <a:pt x="7749921" y="0"/>
                    <a:pt x="7924800" y="174879"/>
                    <a:pt x="7924800" y="390525"/>
                  </a:cubicBezTo>
                  <a:cubicBezTo>
                    <a:pt x="7924800" y="606171"/>
                    <a:pt x="7749921" y="781050"/>
                    <a:pt x="7534275" y="781050"/>
                  </a:cubicBezTo>
                  <a:lnTo>
                    <a:pt x="390525" y="781050"/>
                  </a:lnTo>
                  <a:cubicBezTo>
                    <a:pt x="174879" y="781050"/>
                    <a:pt x="0" y="606171"/>
                    <a:pt x="0" y="390525"/>
                  </a:cubicBezTo>
                  <a:close/>
                </a:path>
              </a:pathLst>
            </a:custGeom>
            <a:solidFill>
              <a:srgbClr val="14533C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258050" y="3047222"/>
            <a:ext cx="3771900" cy="3700462"/>
            <a:chOff x="0" y="0"/>
            <a:chExt cx="5029200" cy="49339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029200" cy="4933950"/>
            </a:xfrm>
            <a:custGeom>
              <a:avLst/>
              <a:gdLst/>
              <a:ahLst/>
              <a:cxnLst/>
              <a:rect l="l" t="t" r="r" b="b"/>
              <a:pathLst>
                <a:path w="5029200" h="4933950">
                  <a:moveTo>
                    <a:pt x="0" y="444056"/>
                  </a:moveTo>
                  <a:cubicBezTo>
                    <a:pt x="0" y="198809"/>
                    <a:pt x="156591" y="0"/>
                    <a:pt x="349758" y="0"/>
                  </a:cubicBezTo>
                  <a:lnTo>
                    <a:pt x="4679442" y="0"/>
                  </a:lnTo>
                  <a:cubicBezTo>
                    <a:pt x="4872609" y="0"/>
                    <a:pt x="5029200" y="198809"/>
                    <a:pt x="5029200" y="444056"/>
                  </a:cubicBezTo>
                  <a:lnTo>
                    <a:pt x="5029200" y="4489895"/>
                  </a:lnTo>
                  <a:cubicBezTo>
                    <a:pt x="5029200" y="4735140"/>
                    <a:pt x="4872609" y="4933950"/>
                    <a:pt x="4679442" y="4933950"/>
                  </a:cubicBezTo>
                  <a:lnTo>
                    <a:pt x="349758" y="4933950"/>
                  </a:lnTo>
                  <a:cubicBezTo>
                    <a:pt x="156591" y="4933950"/>
                    <a:pt x="0" y="4735141"/>
                    <a:pt x="0" y="4489895"/>
                  </a:cubicBezTo>
                  <a:close/>
                </a:path>
              </a:pathLst>
            </a:custGeom>
            <a:solidFill>
              <a:srgbClr val="0D4B38"/>
            </a:solidFill>
            <a:ln w="57150" cap="sq">
              <a:solidFill>
                <a:srgbClr val="59B889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07256" y="3047222"/>
            <a:ext cx="6100762" cy="3700462"/>
            <a:chOff x="0" y="0"/>
            <a:chExt cx="8134350" cy="49339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34350" cy="4933950"/>
            </a:xfrm>
            <a:custGeom>
              <a:avLst/>
              <a:gdLst/>
              <a:ahLst/>
              <a:cxnLst/>
              <a:rect l="l" t="t" r="r" b="b"/>
              <a:pathLst>
                <a:path w="8134350" h="4933950">
                  <a:moveTo>
                    <a:pt x="0" y="652468"/>
                  </a:moveTo>
                  <a:cubicBezTo>
                    <a:pt x="0" y="291993"/>
                    <a:pt x="137541" y="0"/>
                    <a:pt x="307340" y="0"/>
                  </a:cubicBezTo>
                  <a:lnTo>
                    <a:pt x="7827010" y="0"/>
                  </a:lnTo>
                  <a:cubicBezTo>
                    <a:pt x="7996682" y="0"/>
                    <a:pt x="8134350" y="291993"/>
                    <a:pt x="8134350" y="652468"/>
                  </a:cubicBezTo>
                  <a:lnTo>
                    <a:pt x="8134350" y="4281482"/>
                  </a:lnTo>
                  <a:cubicBezTo>
                    <a:pt x="8134350" y="4641688"/>
                    <a:pt x="7996809" y="4933950"/>
                    <a:pt x="7827010" y="4933950"/>
                  </a:cubicBezTo>
                  <a:lnTo>
                    <a:pt x="307340" y="4933950"/>
                  </a:lnTo>
                  <a:cubicBezTo>
                    <a:pt x="137541" y="4933950"/>
                    <a:pt x="0" y="4641957"/>
                    <a:pt x="0" y="428148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4DED9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279981" y="3047222"/>
            <a:ext cx="6100762" cy="3700462"/>
            <a:chOff x="0" y="0"/>
            <a:chExt cx="8134350" cy="49339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34350" cy="4933950"/>
            </a:xfrm>
            <a:custGeom>
              <a:avLst/>
              <a:gdLst/>
              <a:ahLst/>
              <a:cxnLst/>
              <a:rect l="l" t="t" r="r" b="b"/>
              <a:pathLst>
                <a:path w="8134350" h="4933950">
                  <a:moveTo>
                    <a:pt x="0" y="652468"/>
                  </a:moveTo>
                  <a:cubicBezTo>
                    <a:pt x="0" y="291993"/>
                    <a:pt x="137541" y="0"/>
                    <a:pt x="307340" y="0"/>
                  </a:cubicBezTo>
                  <a:lnTo>
                    <a:pt x="7827010" y="0"/>
                  </a:lnTo>
                  <a:cubicBezTo>
                    <a:pt x="7996682" y="0"/>
                    <a:pt x="8134350" y="291993"/>
                    <a:pt x="8134350" y="652468"/>
                  </a:cubicBezTo>
                  <a:lnTo>
                    <a:pt x="8134350" y="4281482"/>
                  </a:lnTo>
                  <a:cubicBezTo>
                    <a:pt x="8134350" y="4641688"/>
                    <a:pt x="7996809" y="4933950"/>
                    <a:pt x="7827010" y="4933950"/>
                  </a:cubicBezTo>
                  <a:lnTo>
                    <a:pt x="307340" y="4933950"/>
                  </a:lnTo>
                  <a:cubicBezTo>
                    <a:pt x="137541" y="4933950"/>
                    <a:pt x="0" y="4641957"/>
                    <a:pt x="0" y="428148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4DED9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21315" y="7552547"/>
            <a:ext cx="5295976" cy="942975"/>
            <a:chOff x="0" y="0"/>
            <a:chExt cx="7061302" cy="12573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061327" cy="1257300"/>
            </a:xfrm>
            <a:custGeom>
              <a:avLst/>
              <a:gdLst/>
              <a:ahLst/>
              <a:cxnLst/>
              <a:rect l="l" t="t" r="r" b="b"/>
              <a:pathLst>
                <a:path w="7061327" h="12573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6794627" y="0"/>
                  </a:lnTo>
                  <a:cubicBezTo>
                    <a:pt x="6941947" y="0"/>
                    <a:pt x="7061327" y="119380"/>
                    <a:pt x="7061327" y="266700"/>
                  </a:cubicBezTo>
                  <a:lnTo>
                    <a:pt x="7061327" y="990600"/>
                  </a:lnTo>
                  <a:cubicBezTo>
                    <a:pt x="7061327" y="1137920"/>
                    <a:pt x="6941947" y="1257300"/>
                    <a:pt x="6794627" y="1257300"/>
                  </a:cubicBezTo>
                  <a:lnTo>
                    <a:pt x="266700" y="1257300"/>
                  </a:lnTo>
                  <a:cubicBezTo>
                    <a:pt x="119380" y="1257300"/>
                    <a:pt x="0" y="1137920"/>
                    <a:pt x="0" y="990600"/>
                  </a:cubicBezTo>
                  <a:close/>
                </a:path>
              </a:pathLst>
            </a:custGeom>
            <a:solidFill>
              <a:srgbClr val="14533C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503041" y="7552547"/>
            <a:ext cx="5295976" cy="942975"/>
            <a:chOff x="0" y="0"/>
            <a:chExt cx="7061302" cy="12573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061327" cy="1257300"/>
            </a:xfrm>
            <a:custGeom>
              <a:avLst/>
              <a:gdLst/>
              <a:ahLst/>
              <a:cxnLst/>
              <a:rect l="l" t="t" r="r" b="b"/>
              <a:pathLst>
                <a:path w="7061327" h="12573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6794627" y="0"/>
                  </a:lnTo>
                  <a:cubicBezTo>
                    <a:pt x="6941947" y="0"/>
                    <a:pt x="7061327" y="119380"/>
                    <a:pt x="7061327" y="266700"/>
                  </a:cubicBezTo>
                  <a:lnTo>
                    <a:pt x="7061327" y="990600"/>
                  </a:lnTo>
                  <a:cubicBezTo>
                    <a:pt x="7061327" y="1137920"/>
                    <a:pt x="6941947" y="1257300"/>
                    <a:pt x="6794627" y="1257300"/>
                  </a:cubicBezTo>
                  <a:lnTo>
                    <a:pt x="266700" y="1257300"/>
                  </a:lnTo>
                  <a:cubicBezTo>
                    <a:pt x="119380" y="1257300"/>
                    <a:pt x="0" y="1137920"/>
                    <a:pt x="0" y="990600"/>
                  </a:cubicBezTo>
                  <a:close/>
                </a:path>
              </a:pathLst>
            </a:custGeom>
            <a:solidFill>
              <a:srgbClr val="14533C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084768" y="7552547"/>
            <a:ext cx="5295976" cy="942975"/>
            <a:chOff x="0" y="0"/>
            <a:chExt cx="7061302" cy="12573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061327" cy="1257300"/>
            </a:xfrm>
            <a:custGeom>
              <a:avLst/>
              <a:gdLst/>
              <a:ahLst/>
              <a:cxnLst/>
              <a:rect l="l" t="t" r="r" b="b"/>
              <a:pathLst>
                <a:path w="7061327" h="12573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6794627" y="0"/>
                  </a:lnTo>
                  <a:cubicBezTo>
                    <a:pt x="6941947" y="0"/>
                    <a:pt x="7061327" y="119380"/>
                    <a:pt x="7061327" y="266700"/>
                  </a:cubicBezTo>
                  <a:lnTo>
                    <a:pt x="7061327" y="990600"/>
                  </a:lnTo>
                  <a:cubicBezTo>
                    <a:pt x="7061327" y="1137920"/>
                    <a:pt x="6941947" y="1257300"/>
                    <a:pt x="6794627" y="1257300"/>
                  </a:cubicBezTo>
                  <a:lnTo>
                    <a:pt x="266700" y="1257300"/>
                  </a:lnTo>
                  <a:cubicBezTo>
                    <a:pt x="119380" y="1257300"/>
                    <a:pt x="0" y="1137920"/>
                    <a:pt x="0" y="990600"/>
                  </a:cubicBezTo>
                  <a:close/>
                </a:path>
              </a:pathLst>
            </a:custGeom>
            <a:solidFill>
              <a:srgbClr val="14533C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944089" y="3340115"/>
            <a:ext cx="400050" cy="457200"/>
            <a:chOff x="0" y="0"/>
            <a:chExt cx="533400" cy="609600"/>
          </a:xfrm>
        </p:grpSpPr>
        <p:sp>
          <p:nvSpPr>
            <p:cNvPr id="24" name="Freeform 24" descr="image.png"/>
            <p:cNvSpPr/>
            <p:nvPr/>
          </p:nvSpPr>
          <p:spPr>
            <a:xfrm>
              <a:off x="0" y="0"/>
              <a:ext cx="533400" cy="609600"/>
            </a:xfrm>
            <a:custGeom>
              <a:avLst/>
              <a:gdLst/>
              <a:ahLst/>
              <a:cxnLst/>
              <a:rect l="l" t="t" r="r" b="b"/>
              <a:pathLst>
                <a:path w="533400" h="609600">
                  <a:moveTo>
                    <a:pt x="0" y="0"/>
                  </a:moveTo>
                  <a:lnTo>
                    <a:pt x="533400" y="0"/>
                  </a:lnTo>
                  <a:lnTo>
                    <a:pt x="5334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43013" y="3550856"/>
            <a:ext cx="271462" cy="271462"/>
            <a:chOff x="0" y="0"/>
            <a:chExt cx="361950" cy="361950"/>
          </a:xfrm>
        </p:grpSpPr>
        <p:sp>
          <p:nvSpPr>
            <p:cNvPr id="26" name="Freeform 26" descr="image.png"/>
            <p:cNvSpPr/>
            <p:nvPr/>
          </p:nvSpPr>
          <p:spPr>
            <a:xfrm>
              <a:off x="0" y="0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0" y="0"/>
                  </a:moveTo>
                  <a:lnTo>
                    <a:pt x="361950" y="0"/>
                  </a:lnTo>
                  <a:lnTo>
                    <a:pt x="36195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43013" y="5179219"/>
            <a:ext cx="271462" cy="271462"/>
            <a:chOff x="0" y="0"/>
            <a:chExt cx="361950" cy="361950"/>
          </a:xfrm>
        </p:grpSpPr>
        <p:sp>
          <p:nvSpPr>
            <p:cNvPr id="28" name="Freeform 28" descr="image.png"/>
            <p:cNvSpPr/>
            <p:nvPr/>
          </p:nvSpPr>
          <p:spPr>
            <a:xfrm>
              <a:off x="0" y="0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0" y="0"/>
                  </a:moveTo>
                  <a:lnTo>
                    <a:pt x="361950" y="0"/>
                  </a:lnTo>
                  <a:lnTo>
                    <a:pt x="36195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615738" y="3522281"/>
            <a:ext cx="242888" cy="271462"/>
            <a:chOff x="0" y="0"/>
            <a:chExt cx="323850" cy="361950"/>
          </a:xfrm>
        </p:grpSpPr>
        <p:sp>
          <p:nvSpPr>
            <p:cNvPr id="30" name="Freeform 30" descr="image.png"/>
            <p:cNvSpPr/>
            <p:nvPr/>
          </p:nvSpPr>
          <p:spPr>
            <a:xfrm>
              <a:off x="0" y="0"/>
              <a:ext cx="323850" cy="361950"/>
            </a:xfrm>
            <a:custGeom>
              <a:avLst/>
              <a:gdLst/>
              <a:ahLst/>
              <a:cxnLst/>
              <a:rect l="l" t="t" r="r" b="b"/>
              <a:pathLst>
                <a:path w="323850" h="361950">
                  <a:moveTo>
                    <a:pt x="0" y="0"/>
                  </a:moveTo>
                  <a:lnTo>
                    <a:pt x="323850" y="0"/>
                  </a:lnTo>
                  <a:lnTo>
                    <a:pt x="32385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615738" y="5183203"/>
            <a:ext cx="300038" cy="271462"/>
            <a:chOff x="0" y="0"/>
            <a:chExt cx="400050" cy="361950"/>
          </a:xfrm>
        </p:grpSpPr>
        <p:sp>
          <p:nvSpPr>
            <p:cNvPr id="32" name="Freeform 32" descr="image.png"/>
            <p:cNvSpPr/>
            <p:nvPr/>
          </p:nvSpPr>
          <p:spPr>
            <a:xfrm>
              <a:off x="0" y="0"/>
              <a:ext cx="400050" cy="361950"/>
            </a:xfrm>
            <a:custGeom>
              <a:avLst/>
              <a:gdLst/>
              <a:ahLst/>
              <a:cxnLst/>
              <a:rect l="l" t="t" r="r" b="b"/>
              <a:pathLst>
                <a:path w="400050" h="361950">
                  <a:moveTo>
                    <a:pt x="0" y="0"/>
                  </a:moveTo>
                  <a:lnTo>
                    <a:pt x="400050" y="0"/>
                  </a:lnTo>
                  <a:lnTo>
                    <a:pt x="40005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-571500" y="514350"/>
            <a:ext cx="19431000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70"/>
              </a:lnSpc>
            </a:pPr>
            <a:r>
              <a:rPr lang="en-US" sz="4725" b="1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EL PRODUCTO: MALLASALUD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229813" y="7093009"/>
            <a:ext cx="3842450" cy="2666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 dirty="0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Reglas de </a:t>
            </a:r>
            <a:r>
              <a:rPr lang="en-US" sz="1800" b="1" dirty="0" err="1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Negocio</a:t>
            </a:r>
            <a:r>
              <a:rPr lang="en-US" sz="1800" b="1" dirty="0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 del Sistema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00075" y="2225690"/>
            <a:ext cx="6715125" cy="300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5"/>
              </a:lnSpc>
            </a:pPr>
            <a:r>
              <a:rPr lang="en-US" sz="1912" b="1">
                <a:solidFill>
                  <a:srgbClr val="FFFFFF"/>
                </a:solidFill>
                <a:latin typeface="Bitter Bold"/>
                <a:ea typeface="Bitter Bold"/>
                <a:cs typeface="Bitter Bold"/>
                <a:sym typeface="Bitter Bold"/>
              </a:rPr>
              <a:t>CANALES PARA EL PACIENTE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647191" y="2225690"/>
            <a:ext cx="3366343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5"/>
              </a:lnSpc>
            </a:pPr>
            <a:r>
              <a:rPr lang="en-US" sz="1912" b="1">
                <a:solidFill>
                  <a:srgbClr val="FFFFFF"/>
                </a:solidFill>
                <a:latin typeface="Bitter Bold"/>
                <a:ea typeface="Bitter Bold"/>
                <a:cs typeface="Bitter Bold"/>
                <a:sym typeface="Bitter Bold"/>
              </a:rPr>
              <a:t>HERRAMIENTAS INTERNAS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377038" y="4216415"/>
            <a:ext cx="3533923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1">
                <a:solidFill>
                  <a:srgbClr val="FFFFFF"/>
                </a:solidFill>
                <a:latin typeface="Bitter Bold"/>
                <a:ea typeface="Bitter Bold"/>
                <a:cs typeface="Bitter Bold"/>
                <a:sym typeface="Bitter Bold"/>
              </a:rPr>
              <a:t>BASE DE DATOS CENTRAL UNIFICADA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463516" y="5152247"/>
            <a:ext cx="3360968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sz="2099">
                <a:solidFill>
                  <a:srgbClr val="E2F2EA"/>
                </a:solidFill>
                <a:latin typeface="Bitter"/>
                <a:ea typeface="Bitter"/>
                <a:cs typeface="Bitter"/>
                <a:sym typeface="Bitter"/>
              </a:rPr>
              <a:t>Sincronización en tiempo real entre los 4 canales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650244" y="3512756"/>
            <a:ext cx="3824288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1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1. PORTAL WEB PACIENTES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43013" y="3955669"/>
            <a:ext cx="6786562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C2B26"/>
                </a:solidFill>
                <a:latin typeface="Bitter"/>
                <a:ea typeface="Bitter"/>
                <a:cs typeface="Bitter"/>
                <a:sym typeface="Bitter"/>
              </a:rPr>
              <a:t>• Ingreso simple solo con RUT sin claves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43013" y="4327144"/>
            <a:ext cx="6786562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C2B26"/>
                </a:solidFill>
                <a:latin typeface="Bitter"/>
                <a:ea typeface="Bitter"/>
                <a:cs typeface="Bitter"/>
                <a:sym typeface="Bitter"/>
              </a:rPr>
              <a:t>• Reserva rápida y comprobante digital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650244" y="5133975"/>
            <a:ext cx="4614862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1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2. TELÉFONO DE VOZ + SMS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43013" y="5584031"/>
            <a:ext cx="6786562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C2B26"/>
                </a:solidFill>
                <a:latin typeface="Bitter"/>
                <a:ea typeface="Bitter"/>
                <a:cs typeface="Bitter"/>
                <a:sym typeface="Bitter"/>
              </a:rPr>
              <a:t>• Atención por voz pausada o teclado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43013" y="5955506"/>
            <a:ext cx="6786562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C2B26"/>
                </a:solidFill>
                <a:latin typeface="Bitter"/>
                <a:ea typeface="Bitter"/>
                <a:cs typeface="Bitter"/>
                <a:sym typeface="Bitter"/>
              </a:rPr>
              <a:t>• Confirmación automática por SMS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168349" y="3484181"/>
            <a:ext cx="4684197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1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3. CONSOLA Y VENTANILLA SOME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615738" y="3927094"/>
            <a:ext cx="6672262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C2B26"/>
                </a:solidFill>
                <a:latin typeface="Bitter"/>
                <a:ea typeface="Bitter"/>
                <a:cs typeface="Bitter"/>
                <a:sym typeface="Bitter"/>
              </a:rPr>
              <a:t>• Calendario visual de agendas por Box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615738" y="4298569"/>
            <a:ext cx="6672262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C2B26"/>
                </a:solidFill>
                <a:latin typeface="Bitter"/>
                <a:ea typeface="Bitter"/>
                <a:cs typeface="Bitter"/>
                <a:sym typeface="Bitter"/>
              </a:rPr>
              <a:t>• Inscripción rápida e impresión de ticket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2168349" y="5127244"/>
            <a:ext cx="3730241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1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4. PANEL EN BOX CLÍNICO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615738" y="5588015"/>
            <a:ext cx="6672262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C2B26"/>
                </a:solidFill>
                <a:latin typeface="Bitter"/>
                <a:ea typeface="Bitter"/>
                <a:cs typeface="Bitter"/>
                <a:sym typeface="Bitter"/>
              </a:rPr>
              <a:t>• Lista diaria simple para el médico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615738" y="5959490"/>
            <a:ext cx="6672262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C2B26"/>
                </a:solidFill>
                <a:latin typeface="Bitter"/>
                <a:ea typeface="Bitter"/>
                <a:cs typeface="Bitter"/>
                <a:sym typeface="Bitter"/>
              </a:rPr>
              <a:t>• Registro en 1 clic: Atendido o No Asistió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385659" y="7719234"/>
            <a:ext cx="4478430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5"/>
              </a:lnSpc>
            </a:pPr>
            <a:r>
              <a:rPr lang="en-US" sz="1912" b="1">
                <a:solidFill>
                  <a:srgbClr val="FFFFFF"/>
                </a:solidFill>
                <a:latin typeface="Bitter Bold"/>
                <a:ea typeface="Bitter Bold"/>
                <a:cs typeface="Bitter Bold"/>
                <a:sym typeface="Bitter Bold"/>
              </a:rPr>
              <a:t>Cupos Protegidos Adulto Mayor (60+)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637230" y="7723997"/>
            <a:ext cx="4985422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5"/>
              </a:lnSpc>
            </a:pPr>
            <a:r>
              <a:rPr lang="en-US" sz="1912" b="1">
                <a:solidFill>
                  <a:srgbClr val="FFFFFF"/>
                </a:solidFill>
                <a:latin typeface="Bitter Bold"/>
                <a:ea typeface="Bitter Bold"/>
                <a:cs typeface="Bitter Bold"/>
                <a:sym typeface="Bitter Bold"/>
              </a:rPr>
              <a:t>Reserva Protegida por 2 Minutos (Sin sobrecupos)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2175265" y="7719234"/>
            <a:ext cx="5001777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5"/>
              </a:lnSpc>
            </a:pPr>
            <a:r>
              <a:rPr lang="en-US" sz="1912" b="1">
                <a:solidFill>
                  <a:srgbClr val="FFFFFF"/>
                </a:solidFill>
                <a:latin typeface="Bitter Bold"/>
                <a:ea typeface="Bitter Bold"/>
                <a:cs typeface="Bitter Bold"/>
                <a:sym typeface="Bitter Bold"/>
              </a:rPr>
              <a:t>Cancelación Oportuna (Hasta 30 min antes)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07256" y="2864644"/>
            <a:ext cx="7986712" cy="5500688"/>
            <a:chOff x="0" y="0"/>
            <a:chExt cx="10648950" cy="73342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48950" cy="7334250"/>
            </a:xfrm>
            <a:custGeom>
              <a:avLst/>
              <a:gdLst/>
              <a:ahLst/>
              <a:cxnLst/>
              <a:rect l="l" t="t" r="r" b="b"/>
              <a:pathLst>
                <a:path w="10648950" h="7334250">
                  <a:moveTo>
                    <a:pt x="0" y="343789"/>
                  </a:moveTo>
                  <a:cubicBezTo>
                    <a:pt x="0" y="153924"/>
                    <a:pt x="153924" y="0"/>
                    <a:pt x="343789" y="0"/>
                  </a:cubicBezTo>
                  <a:lnTo>
                    <a:pt x="10305161" y="0"/>
                  </a:lnTo>
                  <a:cubicBezTo>
                    <a:pt x="10495026" y="0"/>
                    <a:pt x="10648950" y="153924"/>
                    <a:pt x="10648950" y="343789"/>
                  </a:cubicBezTo>
                  <a:lnTo>
                    <a:pt x="10648950" y="6990461"/>
                  </a:lnTo>
                  <a:cubicBezTo>
                    <a:pt x="10648950" y="7180326"/>
                    <a:pt x="10495026" y="7334250"/>
                    <a:pt x="10305161" y="7334250"/>
                  </a:cubicBezTo>
                  <a:lnTo>
                    <a:pt x="343789" y="7334250"/>
                  </a:lnTo>
                  <a:cubicBezTo>
                    <a:pt x="153924" y="7334250"/>
                    <a:pt x="0" y="7180326"/>
                    <a:pt x="0" y="699046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4E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394031" y="2864644"/>
            <a:ext cx="7986712" cy="5500688"/>
            <a:chOff x="0" y="0"/>
            <a:chExt cx="10648950" cy="73342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48950" cy="7334250"/>
            </a:xfrm>
            <a:custGeom>
              <a:avLst/>
              <a:gdLst/>
              <a:ahLst/>
              <a:cxnLst/>
              <a:rect l="l" t="t" r="r" b="b"/>
              <a:pathLst>
                <a:path w="10648950" h="7334250">
                  <a:moveTo>
                    <a:pt x="0" y="343789"/>
                  </a:moveTo>
                  <a:cubicBezTo>
                    <a:pt x="0" y="153924"/>
                    <a:pt x="153924" y="0"/>
                    <a:pt x="343789" y="0"/>
                  </a:cubicBezTo>
                  <a:lnTo>
                    <a:pt x="10305161" y="0"/>
                  </a:lnTo>
                  <a:cubicBezTo>
                    <a:pt x="10495026" y="0"/>
                    <a:pt x="10648950" y="153924"/>
                    <a:pt x="10648950" y="343789"/>
                  </a:cubicBezTo>
                  <a:lnTo>
                    <a:pt x="10648950" y="6990461"/>
                  </a:lnTo>
                  <a:cubicBezTo>
                    <a:pt x="10648950" y="7180326"/>
                    <a:pt x="10495026" y="7334250"/>
                    <a:pt x="10305161" y="7334250"/>
                  </a:cubicBezTo>
                  <a:lnTo>
                    <a:pt x="343789" y="7334250"/>
                  </a:lnTo>
                  <a:cubicBezTo>
                    <a:pt x="153924" y="7334250"/>
                    <a:pt x="0" y="7180326"/>
                    <a:pt x="0" y="699046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4E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28738" y="3943350"/>
            <a:ext cx="7143750" cy="1085850"/>
            <a:chOff x="0" y="0"/>
            <a:chExt cx="9525000" cy="1447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25000" cy="1447800"/>
            </a:xfrm>
            <a:custGeom>
              <a:avLst/>
              <a:gdLst/>
              <a:ahLst/>
              <a:cxnLst/>
              <a:rect l="l" t="t" r="r" b="b"/>
              <a:pathLst>
                <a:path w="9525000" h="14478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9296400" y="0"/>
                  </a:lnTo>
                  <a:cubicBezTo>
                    <a:pt x="9422638" y="0"/>
                    <a:pt x="9525000" y="102362"/>
                    <a:pt x="9525000" y="228600"/>
                  </a:cubicBezTo>
                  <a:lnTo>
                    <a:pt x="9525000" y="1219200"/>
                  </a:lnTo>
                  <a:cubicBezTo>
                    <a:pt x="9525000" y="1345438"/>
                    <a:pt x="9422638" y="1447800"/>
                    <a:pt x="9296400" y="1447800"/>
                  </a:cubicBezTo>
                  <a:lnTo>
                    <a:pt x="228600" y="1447800"/>
                  </a:lnTo>
                  <a:cubicBezTo>
                    <a:pt x="102362" y="1447800"/>
                    <a:pt x="0" y="1345438"/>
                    <a:pt x="0" y="1219200"/>
                  </a:cubicBezTo>
                  <a:close/>
                </a:path>
              </a:pathLst>
            </a:custGeom>
            <a:solidFill>
              <a:srgbClr val="EAF4EF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28738" y="5257800"/>
            <a:ext cx="7143750" cy="1085850"/>
            <a:chOff x="0" y="0"/>
            <a:chExt cx="9525000" cy="1447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525000" cy="1447800"/>
            </a:xfrm>
            <a:custGeom>
              <a:avLst/>
              <a:gdLst/>
              <a:ahLst/>
              <a:cxnLst/>
              <a:rect l="l" t="t" r="r" b="b"/>
              <a:pathLst>
                <a:path w="9525000" h="14478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9296400" y="0"/>
                  </a:lnTo>
                  <a:cubicBezTo>
                    <a:pt x="9422638" y="0"/>
                    <a:pt x="9525000" y="102362"/>
                    <a:pt x="9525000" y="228600"/>
                  </a:cubicBezTo>
                  <a:lnTo>
                    <a:pt x="9525000" y="1219200"/>
                  </a:lnTo>
                  <a:cubicBezTo>
                    <a:pt x="9525000" y="1345438"/>
                    <a:pt x="9422638" y="1447800"/>
                    <a:pt x="9296400" y="1447800"/>
                  </a:cubicBezTo>
                  <a:lnTo>
                    <a:pt x="228600" y="1447800"/>
                  </a:lnTo>
                  <a:cubicBezTo>
                    <a:pt x="102362" y="1447800"/>
                    <a:pt x="0" y="1345438"/>
                    <a:pt x="0" y="1219200"/>
                  </a:cubicBezTo>
                  <a:close/>
                </a:path>
              </a:pathLst>
            </a:custGeom>
            <a:solidFill>
              <a:srgbClr val="EAF4EF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28738" y="6572250"/>
            <a:ext cx="7143750" cy="1400175"/>
            <a:chOff x="0" y="0"/>
            <a:chExt cx="9525000" cy="18669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525000" cy="1866900"/>
            </a:xfrm>
            <a:custGeom>
              <a:avLst/>
              <a:gdLst/>
              <a:ahLst/>
              <a:cxnLst/>
              <a:rect l="l" t="t" r="r" b="b"/>
              <a:pathLst>
                <a:path w="9525000" h="18669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9296400" y="0"/>
                  </a:lnTo>
                  <a:cubicBezTo>
                    <a:pt x="9422638" y="0"/>
                    <a:pt x="9525000" y="102362"/>
                    <a:pt x="9525000" y="228600"/>
                  </a:cubicBezTo>
                  <a:lnTo>
                    <a:pt x="9525000" y="1638300"/>
                  </a:lnTo>
                  <a:cubicBezTo>
                    <a:pt x="9525000" y="1764538"/>
                    <a:pt x="9422638" y="1866900"/>
                    <a:pt x="9296400" y="1866900"/>
                  </a:cubicBezTo>
                  <a:lnTo>
                    <a:pt x="228600" y="1866900"/>
                  </a:lnTo>
                  <a:cubicBezTo>
                    <a:pt x="102362" y="1866900"/>
                    <a:pt x="0" y="1764538"/>
                    <a:pt x="0" y="1638300"/>
                  </a:cubicBezTo>
                  <a:close/>
                </a:path>
              </a:pathLst>
            </a:custGeom>
            <a:solidFill>
              <a:srgbClr val="EAF4EF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815512" y="3943350"/>
            <a:ext cx="7143750" cy="1085850"/>
            <a:chOff x="0" y="0"/>
            <a:chExt cx="9525000" cy="1447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525000" cy="1447800"/>
            </a:xfrm>
            <a:custGeom>
              <a:avLst/>
              <a:gdLst/>
              <a:ahLst/>
              <a:cxnLst/>
              <a:rect l="l" t="t" r="r" b="b"/>
              <a:pathLst>
                <a:path w="9525000" h="14478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9296400" y="0"/>
                  </a:lnTo>
                  <a:cubicBezTo>
                    <a:pt x="9422638" y="0"/>
                    <a:pt x="9525000" y="102362"/>
                    <a:pt x="9525000" y="228600"/>
                  </a:cubicBezTo>
                  <a:lnTo>
                    <a:pt x="9525000" y="1219200"/>
                  </a:lnTo>
                  <a:cubicBezTo>
                    <a:pt x="9525000" y="1345438"/>
                    <a:pt x="9422638" y="1447800"/>
                    <a:pt x="9296400" y="1447800"/>
                  </a:cubicBezTo>
                  <a:lnTo>
                    <a:pt x="228600" y="1447800"/>
                  </a:lnTo>
                  <a:cubicBezTo>
                    <a:pt x="102362" y="1447800"/>
                    <a:pt x="0" y="1345438"/>
                    <a:pt x="0" y="1219200"/>
                  </a:cubicBezTo>
                  <a:close/>
                </a:path>
              </a:pathLst>
            </a:custGeom>
            <a:solidFill>
              <a:srgbClr val="EAF4EF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815512" y="5257800"/>
            <a:ext cx="7143750" cy="1400175"/>
            <a:chOff x="0" y="0"/>
            <a:chExt cx="9525000" cy="18669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525000" cy="1866900"/>
            </a:xfrm>
            <a:custGeom>
              <a:avLst/>
              <a:gdLst/>
              <a:ahLst/>
              <a:cxnLst/>
              <a:rect l="l" t="t" r="r" b="b"/>
              <a:pathLst>
                <a:path w="9525000" h="18669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9296400" y="0"/>
                  </a:lnTo>
                  <a:cubicBezTo>
                    <a:pt x="9422638" y="0"/>
                    <a:pt x="9525000" y="102362"/>
                    <a:pt x="9525000" y="228600"/>
                  </a:cubicBezTo>
                  <a:lnTo>
                    <a:pt x="9525000" y="1638300"/>
                  </a:lnTo>
                  <a:cubicBezTo>
                    <a:pt x="9525000" y="1764538"/>
                    <a:pt x="9422638" y="1866900"/>
                    <a:pt x="9296400" y="1866900"/>
                  </a:cubicBezTo>
                  <a:lnTo>
                    <a:pt x="228600" y="1866900"/>
                  </a:lnTo>
                  <a:cubicBezTo>
                    <a:pt x="102362" y="1866900"/>
                    <a:pt x="0" y="1764538"/>
                    <a:pt x="0" y="1638300"/>
                  </a:cubicBezTo>
                  <a:close/>
                </a:path>
              </a:pathLst>
            </a:custGeom>
            <a:solidFill>
              <a:srgbClr val="EAF4EF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815512" y="6886575"/>
            <a:ext cx="7143750" cy="1085850"/>
            <a:chOff x="0" y="0"/>
            <a:chExt cx="9525000" cy="1447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525000" cy="1447800"/>
            </a:xfrm>
            <a:custGeom>
              <a:avLst/>
              <a:gdLst/>
              <a:ahLst/>
              <a:cxnLst/>
              <a:rect l="l" t="t" r="r" b="b"/>
              <a:pathLst>
                <a:path w="9525000" h="14478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9296400" y="0"/>
                  </a:lnTo>
                  <a:cubicBezTo>
                    <a:pt x="9422638" y="0"/>
                    <a:pt x="9525000" y="102362"/>
                    <a:pt x="9525000" y="228600"/>
                  </a:cubicBezTo>
                  <a:lnTo>
                    <a:pt x="9525000" y="1219200"/>
                  </a:lnTo>
                  <a:cubicBezTo>
                    <a:pt x="9525000" y="1345438"/>
                    <a:pt x="9422638" y="1447800"/>
                    <a:pt x="9296400" y="1447800"/>
                  </a:cubicBezTo>
                  <a:lnTo>
                    <a:pt x="228600" y="1447800"/>
                  </a:lnTo>
                  <a:cubicBezTo>
                    <a:pt x="102362" y="1447800"/>
                    <a:pt x="0" y="1345438"/>
                    <a:pt x="0" y="1219200"/>
                  </a:cubicBezTo>
                  <a:close/>
                </a:path>
              </a:pathLst>
            </a:custGeom>
            <a:solidFill>
              <a:srgbClr val="EAF4EF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585912" y="4243388"/>
            <a:ext cx="514350" cy="485775"/>
            <a:chOff x="0" y="0"/>
            <a:chExt cx="685800" cy="6477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85800" cy="647700"/>
            </a:xfrm>
            <a:custGeom>
              <a:avLst/>
              <a:gdLst/>
              <a:ahLst/>
              <a:cxnLst/>
              <a:rect l="l" t="t" r="r" b="b"/>
              <a:pathLst>
                <a:path w="685800" h="647700">
                  <a:moveTo>
                    <a:pt x="0" y="323850"/>
                  </a:moveTo>
                  <a:cubicBezTo>
                    <a:pt x="0" y="145034"/>
                    <a:pt x="145034" y="0"/>
                    <a:pt x="323850" y="0"/>
                  </a:cubicBezTo>
                  <a:lnTo>
                    <a:pt x="361950" y="0"/>
                  </a:lnTo>
                  <a:cubicBezTo>
                    <a:pt x="540766" y="0"/>
                    <a:pt x="685800" y="145034"/>
                    <a:pt x="685800" y="323850"/>
                  </a:cubicBezTo>
                  <a:cubicBezTo>
                    <a:pt x="685800" y="502666"/>
                    <a:pt x="540766" y="647700"/>
                    <a:pt x="361950" y="647700"/>
                  </a:cubicBezTo>
                  <a:lnTo>
                    <a:pt x="323850" y="647700"/>
                  </a:lnTo>
                  <a:cubicBezTo>
                    <a:pt x="145034" y="647700"/>
                    <a:pt x="0" y="502666"/>
                    <a:pt x="0" y="323850"/>
                  </a:cubicBezTo>
                  <a:close/>
                </a:path>
              </a:pathLst>
            </a:custGeom>
            <a:solidFill>
              <a:srgbClr val="14533C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585912" y="5557838"/>
            <a:ext cx="542925" cy="485775"/>
            <a:chOff x="0" y="0"/>
            <a:chExt cx="723900" cy="6477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23900" cy="647700"/>
            </a:xfrm>
            <a:custGeom>
              <a:avLst/>
              <a:gdLst/>
              <a:ahLst/>
              <a:cxnLst/>
              <a:rect l="l" t="t" r="r" b="b"/>
              <a:pathLst>
                <a:path w="723900" h="647700">
                  <a:moveTo>
                    <a:pt x="0" y="323850"/>
                  </a:moveTo>
                  <a:cubicBezTo>
                    <a:pt x="0" y="145034"/>
                    <a:pt x="145034" y="0"/>
                    <a:pt x="323850" y="0"/>
                  </a:cubicBezTo>
                  <a:lnTo>
                    <a:pt x="400050" y="0"/>
                  </a:lnTo>
                  <a:cubicBezTo>
                    <a:pt x="578866" y="0"/>
                    <a:pt x="723900" y="145034"/>
                    <a:pt x="723900" y="323850"/>
                  </a:cubicBezTo>
                  <a:cubicBezTo>
                    <a:pt x="723900" y="502666"/>
                    <a:pt x="578866" y="647700"/>
                    <a:pt x="400050" y="647700"/>
                  </a:cubicBezTo>
                  <a:lnTo>
                    <a:pt x="323850" y="647700"/>
                  </a:lnTo>
                  <a:cubicBezTo>
                    <a:pt x="145034" y="647700"/>
                    <a:pt x="0" y="502666"/>
                    <a:pt x="0" y="323850"/>
                  </a:cubicBezTo>
                  <a:close/>
                </a:path>
              </a:pathLst>
            </a:custGeom>
            <a:solidFill>
              <a:srgbClr val="14533C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85912" y="7029450"/>
            <a:ext cx="542925" cy="485775"/>
            <a:chOff x="0" y="0"/>
            <a:chExt cx="723900" cy="6477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23900" cy="647700"/>
            </a:xfrm>
            <a:custGeom>
              <a:avLst/>
              <a:gdLst/>
              <a:ahLst/>
              <a:cxnLst/>
              <a:rect l="l" t="t" r="r" b="b"/>
              <a:pathLst>
                <a:path w="723900" h="647700">
                  <a:moveTo>
                    <a:pt x="0" y="323850"/>
                  </a:moveTo>
                  <a:cubicBezTo>
                    <a:pt x="0" y="145034"/>
                    <a:pt x="145034" y="0"/>
                    <a:pt x="323850" y="0"/>
                  </a:cubicBezTo>
                  <a:lnTo>
                    <a:pt x="400050" y="0"/>
                  </a:lnTo>
                  <a:cubicBezTo>
                    <a:pt x="578866" y="0"/>
                    <a:pt x="723900" y="145034"/>
                    <a:pt x="723900" y="323850"/>
                  </a:cubicBezTo>
                  <a:cubicBezTo>
                    <a:pt x="723900" y="502666"/>
                    <a:pt x="578866" y="647700"/>
                    <a:pt x="400050" y="647700"/>
                  </a:cubicBezTo>
                  <a:lnTo>
                    <a:pt x="323850" y="647700"/>
                  </a:lnTo>
                  <a:cubicBezTo>
                    <a:pt x="145034" y="647700"/>
                    <a:pt x="0" y="502666"/>
                    <a:pt x="0" y="323850"/>
                  </a:cubicBezTo>
                  <a:close/>
                </a:path>
              </a:pathLst>
            </a:custGeom>
            <a:solidFill>
              <a:srgbClr val="14533C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072688" y="4243388"/>
            <a:ext cx="514350" cy="485775"/>
            <a:chOff x="0" y="0"/>
            <a:chExt cx="685800" cy="6477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85800" cy="647700"/>
            </a:xfrm>
            <a:custGeom>
              <a:avLst/>
              <a:gdLst/>
              <a:ahLst/>
              <a:cxnLst/>
              <a:rect l="l" t="t" r="r" b="b"/>
              <a:pathLst>
                <a:path w="685800" h="647700">
                  <a:moveTo>
                    <a:pt x="0" y="323850"/>
                  </a:moveTo>
                  <a:cubicBezTo>
                    <a:pt x="0" y="145034"/>
                    <a:pt x="145034" y="0"/>
                    <a:pt x="323850" y="0"/>
                  </a:cubicBezTo>
                  <a:lnTo>
                    <a:pt x="361950" y="0"/>
                  </a:lnTo>
                  <a:cubicBezTo>
                    <a:pt x="540766" y="0"/>
                    <a:pt x="685800" y="145034"/>
                    <a:pt x="685800" y="323850"/>
                  </a:cubicBezTo>
                  <a:cubicBezTo>
                    <a:pt x="685800" y="502666"/>
                    <a:pt x="540766" y="647700"/>
                    <a:pt x="361950" y="647700"/>
                  </a:cubicBezTo>
                  <a:lnTo>
                    <a:pt x="323850" y="647700"/>
                  </a:lnTo>
                  <a:cubicBezTo>
                    <a:pt x="145034" y="647700"/>
                    <a:pt x="0" y="502666"/>
                    <a:pt x="0" y="323850"/>
                  </a:cubicBezTo>
                  <a:close/>
                </a:path>
              </a:pathLst>
            </a:custGeom>
            <a:solidFill>
              <a:srgbClr val="14533C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072688" y="5715000"/>
            <a:ext cx="542925" cy="485775"/>
            <a:chOff x="0" y="0"/>
            <a:chExt cx="723900" cy="6477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23900" cy="647700"/>
            </a:xfrm>
            <a:custGeom>
              <a:avLst/>
              <a:gdLst/>
              <a:ahLst/>
              <a:cxnLst/>
              <a:rect l="l" t="t" r="r" b="b"/>
              <a:pathLst>
                <a:path w="723900" h="647700">
                  <a:moveTo>
                    <a:pt x="0" y="323850"/>
                  </a:moveTo>
                  <a:cubicBezTo>
                    <a:pt x="0" y="145034"/>
                    <a:pt x="145034" y="0"/>
                    <a:pt x="323850" y="0"/>
                  </a:cubicBezTo>
                  <a:lnTo>
                    <a:pt x="400050" y="0"/>
                  </a:lnTo>
                  <a:cubicBezTo>
                    <a:pt x="578866" y="0"/>
                    <a:pt x="723900" y="145034"/>
                    <a:pt x="723900" y="323850"/>
                  </a:cubicBezTo>
                  <a:cubicBezTo>
                    <a:pt x="723900" y="502666"/>
                    <a:pt x="578866" y="647700"/>
                    <a:pt x="400050" y="647700"/>
                  </a:cubicBezTo>
                  <a:lnTo>
                    <a:pt x="323850" y="647700"/>
                  </a:lnTo>
                  <a:cubicBezTo>
                    <a:pt x="145034" y="647700"/>
                    <a:pt x="0" y="502666"/>
                    <a:pt x="0" y="323850"/>
                  </a:cubicBezTo>
                  <a:close/>
                </a:path>
              </a:pathLst>
            </a:custGeom>
            <a:solidFill>
              <a:srgbClr val="14533C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072688" y="7186612"/>
            <a:ext cx="542925" cy="485775"/>
            <a:chOff x="0" y="0"/>
            <a:chExt cx="723900" cy="6477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23900" cy="647700"/>
            </a:xfrm>
            <a:custGeom>
              <a:avLst/>
              <a:gdLst/>
              <a:ahLst/>
              <a:cxnLst/>
              <a:rect l="l" t="t" r="r" b="b"/>
              <a:pathLst>
                <a:path w="723900" h="647700">
                  <a:moveTo>
                    <a:pt x="0" y="323850"/>
                  </a:moveTo>
                  <a:cubicBezTo>
                    <a:pt x="0" y="145034"/>
                    <a:pt x="145034" y="0"/>
                    <a:pt x="323850" y="0"/>
                  </a:cubicBezTo>
                  <a:lnTo>
                    <a:pt x="400050" y="0"/>
                  </a:lnTo>
                  <a:cubicBezTo>
                    <a:pt x="578866" y="0"/>
                    <a:pt x="723900" y="145034"/>
                    <a:pt x="723900" y="323850"/>
                  </a:cubicBezTo>
                  <a:cubicBezTo>
                    <a:pt x="723900" y="502666"/>
                    <a:pt x="578866" y="647700"/>
                    <a:pt x="400050" y="647700"/>
                  </a:cubicBezTo>
                  <a:lnTo>
                    <a:pt x="323850" y="647700"/>
                  </a:lnTo>
                  <a:cubicBezTo>
                    <a:pt x="145034" y="647700"/>
                    <a:pt x="0" y="502666"/>
                    <a:pt x="0" y="323850"/>
                  </a:cubicBezTo>
                  <a:close/>
                </a:path>
              </a:pathLst>
            </a:custGeom>
            <a:solidFill>
              <a:srgbClr val="14533C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509758" y="3271838"/>
            <a:ext cx="428625" cy="342900"/>
            <a:chOff x="0" y="0"/>
            <a:chExt cx="571500" cy="457200"/>
          </a:xfrm>
        </p:grpSpPr>
        <p:sp>
          <p:nvSpPr>
            <p:cNvPr id="33" name="Freeform 33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062990" y="3271838"/>
            <a:ext cx="300038" cy="342900"/>
            <a:chOff x="0" y="0"/>
            <a:chExt cx="400050" cy="457200"/>
          </a:xfrm>
        </p:grpSpPr>
        <p:sp>
          <p:nvSpPr>
            <p:cNvPr id="35" name="Freeform 35" descr="image.png"/>
            <p:cNvSpPr/>
            <p:nvPr/>
          </p:nvSpPr>
          <p:spPr>
            <a:xfrm>
              <a:off x="0" y="0"/>
              <a:ext cx="400050" cy="457200"/>
            </a:xfrm>
            <a:custGeom>
              <a:avLst/>
              <a:gdLst/>
              <a:ahLst/>
              <a:cxnLst/>
              <a:rect l="l" t="t" r="r" b="b"/>
              <a:pathLst>
                <a:path w="400050" h="457200">
                  <a:moveTo>
                    <a:pt x="0" y="0"/>
                  </a:moveTo>
                  <a:lnTo>
                    <a:pt x="400050" y="0"/>
                  </a:lnTo>
                  <a:lnTo>
                    <a:pt x="4000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-571500" y="542925"/>
            <a:ext cx="19431000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70"/>
              </a:lnSpc>
            </a:pPr>
            <a:r>
              <a:rPr lang="en-US" sz="4725" b="1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VÍNCULO CON EL PERFIL DE EGRESO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986008" y="3257550"/>
            <a:ext cx="4210199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Perfil de Egreso Duoc UC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363027" y="3257550"/>
            <a:ext cx="4343995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Aplicación en MallaSalud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785938" y="4319587"/>
            <a:ext cx="257175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FFFFFF"/>
                </a:solidFill>
                <a:latin typeface="Bitter Bold"/>
                <a:ea typeface="Bitter Bold"/>
                <a:cs typeface="Bitter Bold"/>
                <a:sym typeface="Bitter Bold"/>
              </a:rPr>
              <a:t>1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328862" y="4162425"/>
            <a:ext cx="6029325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Diseño y despliegue:</a:t>
            </a:r>
            <a:r>
              <a:rPr lang="en-US" sz="2025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 Soluciones integradas con frameworks y arquitectura moderna.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785938" y="5634037"/>
            <a:ext cx="28575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FFFFFF"/>
                </a:solidFill>
                <a:latin typeface="Bitter Bold"/>
                <a:ea typeface="Bitter Bold"/>
                <a:cs typeface="Bitter Bold"/>
                <a:sym typeface="Bitter Bold"/>
              </a:rPr>
              <a:t>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357438" y="5476875"/>
            <a:ext cx="6000750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Gestión y ética:</a:t>
            </a:r>
            <a:r>
              <a:rPr lang="en-US" sz="2025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 Metodologías ágiles con vocación de servicio y foco en el bien común.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785938" y="7105650"/>
            <a:ext cx="28575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FFFFFF"/>
                </a:solidFill>
                <a:latin typeface="Bitter Bold"/>
                <a:ea typeface="Bitter Bold"/>
                <a:cs typeface="Bitter Bold"/>
                <a:sym typeface="Bitter Bold"/>
              </a:rPr>
              <a:t>3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357438" y="6791325"/>
            <a:ext cx="6000750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 dirty="0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Ingeniería de </a:t>
            </a:r>
            <a:r>
              <a:rPr lang="en-US" sz="2025" b="1" dirty="0" err="1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datos</a:t>
            </a:r>
            <a:r>
              <a:rPr lang="en-US" sz="2025" b="1" dirty="0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:</a:t>
            </a:r>
            <a:r>
              <a:rPr lang="en-US" sz="2025" dirty="0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 </a:t>
            </a:r>
            <a:r>
              <a:rPr lang="en-US" sz="2025" dirty="0" err="1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Modelado</a:t>
            </a:r>
            <a:r>
              <a:rPr lang="en-US" sz="2025" dirty="0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 </a:t>
            </a:r>
            <a:r>
              <a:rPr lang="en-US" sz="2025" dirty="0" err="1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relacional</a:t>
            </a:r>
            <a:r>
              <a:rPr lang="en-US" sz="2025" dirty="0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 </a:t>
            </a:r>
            <a:r>
              <a:rPr lang="en-US" sz="2025" dirty="0" err="1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robusto</a:t>
            </a:r>
            <a:r>
              <a:rPr lang="en-US" sz="2025" dirty="0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 y </a:t>
            </a:r>
            <a:r>
              <a:rPr lang="en-US" sz="2025" dirty="0" err="1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procesamiento</a:t>
            </a:r>
            <a:r>
              <a:rPr lang="en-US" sz="2025" dirty="0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 </a:t>
            </a:r>
            <a:r>
              <a:rPr lang="en-US" sz="2025" dirty="0" err="1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seguro</a:t>
            </a:r>
            <a:r>
              <a:rPr lang="en-US" sz="2025" dirty="0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 de la </a:t>
            </a:r>
            <a:r>
              <a:rPr lang="en-US" sz="2025" dirty="0" err="1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información</a:t>
            </a:r>
            <a:r>
              <a:rPr lang="en-US" sz="2025" dirty="0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272712" y="4319587"/>
            <a:ext cx="257175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FFFFFF"/>
                </a:solidFill>
                <a:latin typeface="Bitter Bold"/>
                <a:ea typeface="Bitter Bold"/>
                <a:cs typeface="Bitter Bold"/>
                <a:sym typeface="Bitter Bold"/>
              </a:rPr>
              <a:t>1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815638" y="4162425"/>
            <a:ext cx="6029325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 dirty="0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Full-Stack </a:t>
            </a:r>
            <a:r>
              <a:rPr lang="en-US" sz="2025" b="1" dirty="0" err="1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moderno</a:t>
            </a:r>
            <a:r>
              <a:rPr lang="en-US" sz="2025" b="1" dirty="0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:</a:t>
            </a:r>
            <a:r>
              <a:rPr lang="en-US" sz="2025" dirty="0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 Next.js, Prisma ORM y </a:t>
            </a:r>
            <a:r>
              <a:rPr lang="en-US" sz="2025" dirty="0" err="1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orquestación</a:t>
            </a:r>
            <a:r>
              <a:rPr lang="en-US" sz="2025" dirty="0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 con Docker </a:t>
            </a:r>
            <a:r>
              <a:rPr lang="en-US" sz="2025" dirty="0" err="1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en</a:t>
            </a:r>
            <a:r>
              <a:rPr lang="en-US" sz="2025" dirty="0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 un solo </a:t>
            </a:r>
            <a:r>
              <a:rPr lang="en-US" sz="2025" dirty="0" err="1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ecosistema</a:t>
            </a:r>
            <a:r>
              <a:rPr lang="en-US" sz="2025" dirty="0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272712" y="5791200"/>
            <a:ext cx="28575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FFFFFF"/>
                </a:solidFill>
                <a:latin typeface="Bitter Bold"/>
                <a:ea typeface="Bitter Bold"/>
                <a:cs typeface="Bitter Bold"/>
                <a:sym typeface="Bitter Bold"/>
              </a:rPr>
              <a:t>2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844212" y="5476875"/>
            <a:ext cx="6000750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 dirty="0" err="1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Inclusión</a:t>
            </a:r>
            <a:r>
              <a:rPr lang="en-US" sz="2025" b="1" dirty="0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 real:</a:t>
            </a:r>
            <a:r>
              <a:rPr lang="en-US" sz="2025" dirty="0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 </a:t>
            </a:r>
            <a:r>
              <a:rPr lang="en-US" sz="2025" dirty="0" err="1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Teléfono</a:t>
            </a:r>
            <a:r>
              <a:rPr lang="en-US" sz="2025" dirty="0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 IVR y </a:t>
            </a:r>
            <a:r>
              <a:rPr lang="en-US" sz="2025" dirty="0" err="1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cuota</a:t>
            </a:r>
            <a:r>
              <a:rPr lang="en-US" sz="2025" dirty="0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 “60+” para </a:t>
            </a:r>
            <a:r>
              <a:rPr lang="en-US" sz="2025" dirty="0" err="1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eliminar</a:t>
            </a:r>
            <a:r>
              <a:rPr lang="en-US" sz="2025" dirty="0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 </a:t>
            </a:r>
            <a:r>
              <a:rPr lang="en-US" sz="2025" dirty="0" err="1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filas</a:t>
            </a:r>
            <a:r>
              <a:rPr lang="en-US" sz="2025" dirty="0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 de </a:t>
            </a:r>
            <a:r>
              <a:rPr lang="en-US" sz="2025" dirty="0" err="1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madrugada</a:t>
            </a:r>
            <a:r>
              <a:rPr lang="en-US" sz="2025" dirty="0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 </a:t>
            </a:r>
            <a:r>
              <a:rPr lang="en-US" sz="2025" dirty="0" err="1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en</a:t>
            </a:r>
            <a:r>
              <a:rPr lang="en-US" sz="2025" dirty="0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 personas </a:t>
            </a:r>
            <a:r>
              <a:rPr lang="en-US" sz="2025" dirty="0" err="1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mayores</a:t>
            </a:r>
            <a:r>
              <a:rPr lang="en-US" sz="2025" dirty="0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272712" y="7262813"/>
            <a:ext cx="28575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FFFFFF"/>
                </a:solidFill>
                <a:latin typeface="Bitter Bold"/>
                <a:ea typeface="Bitter Bold"/>
                <a:cs typeface="Bitter Bold"/>
                <a:sym typeface="Bitter Bold"/>
              </a:rPr>
              <a:t>3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844212" y="7105650"/>
            <a:ext cx="6000750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Motor transaccional:</a:t>
            </a:r>
            <a:r>
              <a:rPr lang="en-US" sz="2025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 Bloqueo concurrente de 120s y mitigación de horas perdidas (NSP).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-3010580" y="5590669"/>
            <a:ext cx="9602560" cy="8358070"/>
            <a:chOff x="0" y="0"/>
            <a:chExt cx="12803413" cy="11144093"/>
          </a:xfrm>
        </p:grpSpPr>
        <p:sp>
          <p:nvSpPr>
            <p:cNvPr id="52" name="Freeform 52"/>
            <p:cNvSpPr/>
            <p:nvPr/>
          </p:nvSpPr>
          <p:spPr>
            <a:xfrm flipH="1" flipV="1">
              <a:off x="0" y="0"/>
              <a:ext cx="12803413" cy="8985668"/>
            </a:xfrm>
            <a:custGeom>
              <a:avLst/>
              <a:gdLst/>
              <a:ahLst/>
              <a:cxnLst/>
              <a:rect l="l" t="t" r="r" b="b"/>
              <a:pathLst>
                <a:path w="12803413" h="8985668">
                  <a:moveTo>
                    <a:pt x="12803413" y="8985668"/>
                  </a:moveTo>
                  <a:lnTo>
                    <a:pt x="0" y="8985668"/>
                  </a:lnTo>
                  <a:lnTo>
                    <a:pt x="0" y="0"/>
                  </a:lnTo>
                  <a:lnTo>
                    <a:pt x="12803413" y="0"/>
                  </a:lnTo>
                  <a:lnTo>
                    <a:pt x="12803413" y="8985668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53" name="Freeform 53"/>
            <p:cNvSpPr/>
            <p:nvPr/>
          </p:nvSpPr>
          <p:spPr>
            <a:xfrm rot="-8920123">
              <a:off x="1566182" y="5536962"/>
              <a:ext cx="9753600" cy="3312812"/>
            </a:xfrm>
            <a:custGeom>
              <a:avLst/>
              <a:gdLst/>
              <a:ahLst/>
              <a:cxnLst/>
              <a:rect l="l" t="t" r="r" b="b"/>
              <a:pathLst>
                <a:path w="9753600" h="3312812">
                  <a:moveTo>
                    <a:pt x="0" y="0"/>
                  </a:moveTo>
                  <a:lnTo>
                    <a:pt x="9753600" y="0"/>
                  </a:lnTo>
                  <a:lnTo>
                    <a:pt x="9753600" y="3312812"/>
                  </a:lnTo>
                  <a:lnTo>
                    <a:pt x="0" y="33128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-3010580" y="5590669"/>
            <a:ext cx="9602560" cy="8374424"/>
            <a:chOff x="0" y="0"/>
            <a:chExt cx="12803413" cy="11165899"/>
          </a:xfrm>
        </p:grpSpPr>
        <p:sp>
          <p:nvSpPr>
            <p:cNvPr id="55" name="Freeform 55"/>
            <p:cNvSpPr/>
            <p:nvPr/>
          </p:nvSpPr>
          <p:spPr>
            <a:xfrm flipH="1" flipV="1">
              <a:off x="0" y="0"/>
              <a:ext cx="12803413" cy="8985668"/>
            </a:xfrm>
            <a:custGeom>
              <a:avLst/>
              <a:gdLst/>
              <a:ahLst/>
              <a:cxnLst/>
              <a:rect l="l" t="t" r="r" b="b"/>
              <a:pathLst>
                <a:path w="12803413" h="8985668">
                  <a:moveTo>
                    <a:pt x="12803413" y="8985668"/>
                  </a:moveTo>
                  <a:lnTo>
                    <a:pt x="0" y="8985668"/>
                  </a:lnTo>
                  <a:lnTo>
                    <a:pt x="0" y="0"/>
                  </a:lnTo>
                  <a:lnTo>
                    <a:pt x="12803413" y="0"/>
                  </a:lnTo>
                  <a:lnTo>
                    <a:pt x="12803413" y="8985668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56" name="Freeform 56"/>
            <p:cNvSpPr/>
            <p:nvPr/>
          </p:nvSpPr>
          <p:spPr>
            <a:xfrm rot="-8920123">
              <a:off x="1524907" y="5558768"/>
              <a:ext cx="9753600" cy="3312812"/>
            </a:xfrm>
            <a:custGeom>
              <a:avLst/>
              <a:gdLst/>
              <a:ahLst/>
              <a:cxnLst/>
              <a:rect l="l" t="t" r="r" b="b"/>
              <a:pathLst>
                <a:path w="9753600" h="3312812">
                  <a:moveTo>
                    <a:pt x="0" y="0"/>
                  </a:moveTo>
                  <a:lnTo>
                    <a:pt x="9753600" y="0"/>
                  </a:lnTo>
                  <a:lnTo>
                    <a:pt x="9753600" y="3312812"/>
                  </a:lnTo>
                  <a:lnTo>
                    <a:pt x="0" y="33128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810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07256" y="3021806"/>
            <a:ext cx="7986712" cy="5186362"/>
            <a:chOff x="0" y="0"/>
            <a:chExt cx="10648950" cy="69151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48950" cy="6915150"/>
            </a:xfrm>
            <a:custGeom>
              <a:avLst/>
              <a:gdLst/>
              <a:ahLst/>
              <a:cxnLst/>
              <a:rect l="l" t="t" r="r" b="b"/>
              <a:pathLst>
                <a:path w="10648950" h="6915150">
                  <a:moveTo>
                    <a:pt x="0" y="343789"/>
                  </a:moveTo>
                  <a:cubicBezTo>
                    <a:pt x="0" y="153924"/>
                    <a:pt x="153924" y="0"/>
                    <a:pt x="343789" y="0"/>
                  </a:cubicBezTo>
                  <a:lnTo>
                    <a:pt x="10305161" y="0"/>
                  </a:lnTo>
                  <a:cubicBezTo>
                    <a:pt x="10495026" y="0"/>
                    <a:pt x="10648950" y="153924"/>
                    <a:pt x="10648950" y="343789"/>
                  </a:cubicBezTo>
                  <a:lnTo>
                    <a:pt x="10648950" y="6571361"/>
                  </a:lnTo>
                  <a:cubicBezTo>
                    <a:pt x="10648950" y="6761226"/>
                    <a:pt x="10495026" y="6915150"/>
                    <a:pt x="10305161" y="6915150"/>
                  </a:cubicBezTo>
                  <a:lnTo>
                    <a:pt x="343789" y="6915150"/>
                  </a:lnTo>
                  <a:cubicBezTo>
                    <a:pt x="153924" y="6915150"/>
                    <a:pt x="0" y="6761226"/>
                    <a:pt x="0" y="657136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4E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394031" y="3021806"/>
            <a:ext cx="7986712" cy="5186362"/>
            <a:chOff x="0" y="0"/>
            <a:chExt cx="10648950" cy="69151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48950" cy="6915150"/>
            </a:xfrm>
            <a:custGeom>
              <a:avLst/>
              <a:gdLst/>
              <a:ahLst/>
              <a:cxnLst/>
              <a:rect l="l" t="t" r="r" b="b"/>
              <a:pathLst>
                <a:path w="10648950" h="6915150">
                  <a:moveTo>
                    <a:pt x="0" y="343789"/>
                  </a:moveTo>
                  <a:cubicBezTo>
                    <a:pt x="0" y="153924"/>
                    <a:pt x="153924" y="0"/>
                    <a:pt x="343789" y="0"/>
                  </a:cubicBezTo>
                  <a:lnTo>
                    <a:pt x="10305161" y="0"/>
                  </a:lnTo>
                  <a:cubicBezTo>
                    <a:pt x="10495026" y="0"/>
                    <a:pt x="10648950" y="153924"/>
                    <a:pt x="10648950" y="343789"/>
                  </a:cubicBezTo>
                  <a:lnTo>
                    <a:pt x="10648950" y="6571361"/>
                  </a:lnTo>
                  <a:cubicBezTo>
                    <a:pt x="10648950" y="6761226"/>
                    <a:pt x="10495026" y="6915150"/>
                    <a:pt x="10305161" y="6915150"/>
                  </a:cubicBezTo>
                  <a:lnTo>
                    <a:pt x="343789" y="6915150"/>
                  </a:lnTo>
                  <a:cubicBezTo>
                    <a:pt x="153924" y="6915150"/>
                    <a:pt x="0" y="6761226"/>
                    <a:pt x="0" y="657136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4E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28738" y="4100512"/>
            <a:ext cx="7143750" cy="1085850"/>
            <a:chOff x="0" y="0"/>
            <a:chExt cx="9525000" cy="1447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25000" cy="1447800"/>
            </a:xfrm>
            <a:custGeom>
              <a:avLst/>
              <a:gdLst/>
              <a:ahLst/>
              <a:cxnLst/>
              <a:rect l="l" t="t" r="r" b="b"/>
              <a:pathLst>
                <a:path w="9525000" h="14478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9296400" y="0"/>
                  </a:lnTo>
                  <a:cubicBezTo>
                    <a:pt x="9422638" y="0"/>
                    <a:pt x="9525000" y="102362"/>
                    <a:pt x="9525000" y="228600"/>
                  </a:cubicBezTo>
                  <a:lnTo>
                    <a:pt x="9525000" y="1219200"/>
                  </a:lnTo>
                  <a:cubicBezTo>
                    <a:pt x="9525000" y="1345438"/>
                    <a:pt x="9422638" y="1447800"/>
                    <a:pt x="9296400" y="1447800"/>
                  </a:cubicBezTo>
                  <a:lnTo>
                    <a:pt x="228600" y="1447800"/>
                  </a:lnTo>
                  <a:cubicBezTo>
                    <a:pt x="102362" y="1447800"/>
                    <a:pt x="0" y="1345438"/>
                    <a:pt x="0" y="1219200"/>
                  </a:cubicBezTo>
                  <a:close/>
                </a:path>
              </a:pathLst>
            </a:custGeom>
            <a:solidFill>
              <a:srgbClr val="EAF4EF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28738" y="5414962"/>
            <a:ext cx="7143750" cy="1085850"/>
            <a:chOff x="0" y="0"/>
            <a:chExt cx="9525000" cy="1447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525000" cy="1447800"/>
            </a:xfrm>
            <a:custGeom>
              <a:avLst/>
              <a:gdLst/>
              <a:ahLst/>
              <a:cxnLst/>
              <a:rect l="l" t="t" r="r" b="b"/>
              <a:pathLst>
                <a:path w="9525000" h="14478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9296400" y="0"/>
                  </a:lnTo>
                  <a:cubicBezTo>
                    <a:pt x="9422638" y="0"/>
                    <a:pt x="9525000" y="102362"/>
                    <a:pt x="9525000" y="228600"/>
                  </a:cubicBezTo>
                  <a:lnTo>
                    <a:pt x="9525000" y="1219200"/>
                  </a:lnTo>
                  <a:cubicBezTo>
                    <a:pt x="9525000" y="1345438"/>
                    <a:pt x="9422638" y="1447800"/>
                    <a:pt x="9296400" y="1447800"/>
                  </a:cubicBezTo>
                  <a:lnTo>
                    <a:pt x="228600" y="1447800"/>
                  </a:lnTo>
                  <a:cubicBezTo>
                    <a:pt x="102362" y="1447800"/>
                    <a:pt x="0" y="1345438"/>
                    <a:pt x="0" y="1219200"/>
                  </a:cubicBezTo>
                  <a:close/>
                </a:path>
              </a:pathLst>
            </a:custGeom>
            <a:solidFill>
              <a:srgbClr val="EAF4EF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28738" y="6729412"/>
            <a:ext cx="7143750" cy="1085850"/>
            <a:chOff x="0" y="0"/>
            <a:chExt cx="9525000" cy="1447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525000" cy="1447800"/>
            </a:xfrm>
            <a:custGeom>
              <a:avLst/>
              <a:gdLst/>
              <a:ahLst/>
              <a:cxnLst/>
              <a:rect l="l" t="t" r="r" b="b"/>
              <a:pathLst>
                <a:path w="9525000" h="14478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9296400" y="0"/>
                  </a:lnTo>
                  <a:cubicBezTo>
                    <a:pt x="9422638" y="0"/>
                    <a:pt x="9525000" y="102362"/>
                    <a:pt x="9525000" y="228600"/>
                  </a:cubicBezTo>
                  <a:lnTo>
                    <a:pt x="9525000" y="1219200"/>
                  </a:lnTo>
                  <a:cubicBezTo>
                    <a:pt x="9525000" y="1345438"/>
                    <a:pt x="9422638" y="1447800"/>
                    <a:pt x="9296400" y="1447800"/>
                  </a:cubicBezTo>
                  <a:lnTo>
                    <a:pt x="228600" y="1447800"/>
                  </a:lnTo>
                  <a:cubicBezTo>
                    <a:pt x="102362" y="1447800"/>
                    <a:pt x="0" y="1345438"/>
                    <a:pt x="0" y="1219200"/>
                  </a:cubicBezTo>
                  <a:close/>
                </a:path>
              </a:pathLst>
            </a:custGeom>
            <a:solidFill>
              <a:srgbClr val="EAF4EF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815512" y="4100512"/>
            <a:ext cx="7143750" cy="1085850"/>
            <a:chOff x="0" y="0"/>
            <a:chExt cx="9525000" cy="1447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525000" cy="1447800"/>
            </a:xfrm>
            <a:custGeom>
              <a:avLst/>
              <a:gdLst/>
              <a:ahLst/>
              <a:cxnLst/>
              <a:rect l="l" t="t" r="r" b="b"/>
              <a:pathLst>
                <a:path w="9525000" h="14478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9296400" y="0"/>
                  </a:lnTo>
                  <a:cubicBezTo>
                    <a:pt x="9422638" y="0"/>
                    <a:pt x="9525000" y="102362"/>
                    <a:pt x="9525000" y="228600"/>
                  </a:cubicBezTo>
                  <a:lnTo>
                    <a:pt x="9525000" y="1219200"/>
                  </a:lnTo>
                  <a:cubicBezTo>
                    <a:pt x="9525000" y="1345438"/>
                    <a:pt x="9422638" y="1447800"/>
                    <a:pt x="9296400" y="1447800"/>
                  </a:cubicBezTo>
                  <a:lnTo>
                    <a:pt x="228600" y="1447800"/>
                  </a:lnTo>
                  <a:cubicBezTo>
                    <a:pt x="102362" y="1447800"/>
                    <a:pt x="0" y="1345438"/>
                    <a:pt x="0" y="1219200"/>
                  </a:cubicBezTo>
                  <a:close/>
                </a:path>
              </a:pathLst>
            </a:custGeom>
            <a:solidFill>
              <a:srgbClr val="EAF4EF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815512" y="5414962"/>
            <a:ext cx="7143750" cy="1085850"/>
            <a:chOff x="0" y="0"/>
            <a:chExt cx="9525000" cy="1447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525000" cy="1447800"/>
            </a:xfrm>
            <a:custGeom>
              <a:avLst/>
              <a:gdLst/>
              <a:ahLst/>
              <a:cxnLst/>
              <a:rect l="l" t="t" r="r" b="b"/>
              <a:pathLst>
                <a:path w="9525000" h="14478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9296400" y="0"/>
                  </a:lnTo>
                  <a:cubicBezTo>
                    <a:pt x="9422638" y="0"/>
                    <a:pt x="9525000" y="102362"/>
                    <a:pt x="9525000" y="228600"/>
                  </a:cubicBezTo>
                  <a:lnTo>
                    <a:pt x="9525000" y="1219200"/>
                  </a:lnTo>
                  <a:cubicBezTo>
                    <a:pt x="9525000" y="1345438"/>
                    <a:pt x="9422638" y="1447800"/>
                    <a:pt x="9296400" y="1447800"/>
                  </a:cubicBezTo>
                  <a:lnTo>
                    <a:pt x="228600" y="1447800"/>
                  </a:lnTo>
                  <a:cubicBezTo>
                    <a:pt x="102362" y="1447800"/>
                    <a:pt x="0" y="1345438"/>
                    <a:pt x="0" y="1219200"/>
                  </a:cubicBezTo>
                  <a:close/>
                </a:path>
              </a:pathLst>
            </a:custGeom>
            <a:solidFill>
              <a:srgbClr val="EAF4EF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815512" y="6729412"/>
            <a:ext cx="7143750" cy="1085850"/>
            <a:chOff x="0" y="0"/>
            <a:chExt cx="9525000" cy="1447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525000" cy="1447800"/>
            </a:xfrm>
            <a:custGeom>
              <a:avLst/>
              <a:gdLst/>
              <a:ahLst/>
              <a:cxnLst/>
              <a:rect l="l" t="t" r="r" b="b"/>
              <a:pathLst>
                <a:path w="9525000" h="14478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9296400" y="0"/>
                  </a:lnTo>
                  <a:cubicBezTo>
                    <a:pt x="9422638" y="0"/>
                    <a:pt x="9525000" y="102362"/>
                    <a:pt x="9525000" y="228600"/>
                  </a:cubicBezTo>
                  <a:lnTo>
                    <a:pt x="9525000" y="1219200"/>
                  </a:lnTo>
                  <a:cubicBezTo>
                    <a:pt x="9525000" y="1345438"/>
                    <a:pt x="9422638" y="1447800"/>
                    <a:pt x="9296400" y="1447800"/>
                  </a:cubicBezTo>
                  <a:lnTo>
                    <a:pt x="228600" y="1447800"/>
                  </a:lnTo>
                  <a:cubicBezTo>
                    <a:pt x="102362" y="1447800"/>
                    <a:pt x="0" y="1345438"/>
                    <a:pt x="0" y="1219200"/>
                  </a:cubicBezTo>
                  <a:close/>
                </a:path>
              </a:pathLst>
            </a:custGeom>
            <a:solidFill>
              <a:srgbClr val="EAF4EF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585912" y="4400550"/>
            <a:ext cx="514350" cy="485775"/>
            <a:chOff x="0" y="0"/>
            <a:chExt cx="685800" cy="6477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85800" cy="647700"/>
            </a:xfrm>
            <a:custGeom>
              <a:avLst/>
              <a:gdLst/>
              <a:ahLst/>
              <a:cxnLst/>
              <a:rect l="l" t="t" r="r" b="b"/>
              <a:pathLst>
                <a:path w="685800" h="647700">
                  <a:moveTo>
                    <a:pt x="0" y="323850"/>
                  </a:moveTo>
                  <a:cubicBezTo>
                    <a:pt x="0" y="145034"/>
                    <a:pt x="145034" y="0"/>
                    <a:pt x="323850" y="0"/>
                  </a:cubicBezTo>
                  <a:lnTo>
                    <a:pt x="361950" y="0"/>
                  </a:lnTo>
                  <a:cubicBezTo>
                    <a:pt x="540766" y="0"/>
                    <a:pt x="685800" y="145034"/>
                    <a:pt x="685800" y="323850"/>
                  </a:cubicBezTo>
                  <a:cubicBezTo>
                    <a:pt x="685800" y="502666"/>
                    <a:pt x="540766" y="647700"/>
                    <a:pt x="361950" y="647700"/>
                  </a:cubicBezTo>
                  <a:lnTo>
                    <a:pt x="323850" y="647700"/>
                  </a:lnTo>
                  <a:cubicBezTo>
                    <a:pt x="145034" y="647700"/>
                    <a:pt x="0" y="502666"/>
                    <a:pt x="0" y="323850"/>
                  </a:cubicBezTo>
                  <a:close/>
                </a:path>
              </a:pathLst>
            </a:custGeom>
            <a:solidFill>
              <a:srgbClr val="14533C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585912" y="5715000"/>
            <a:ext cx="542925" cy="485775"/>
            <a:chOff x="0" y="0"/>
            <a:chExt cx="723900" cy="6477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23900" cy="647700"/>
            </a:xfrm>
            <a:custGeom>
              <a:avLst/>
              <a:gdLst/>
              <a:ahLst/>
              <a:cxnLst/>
              <a:rect l="l" t="t" r="r" b="b"/>
              <a:pathLst>
                <a:path w="723900" h="647700">
                  <a:moveTo>
                    <a:pt x="0" y="323850"/>
                  </a:moveTo>
                  <a:cubicBezTo>
                    <a:pt x="0" y="145034"/>
                    <a:pt x="145034" y="0"/>
                    <a:pt x="323850" y="0"/>
                  </a:cubicBezTo>
                  <a:lnTo>
                    <a:pt x="400050" y="0"/>
                  </a:lnTo>
                  <a:cubicBezTo>
                    <a:pt x="578866" y="0"/>
                    <a:pt x="723900" y="145034"/>
                    <a:pt x="723900" y="323850"/>
                  </a:cubicBezTo>
                  <a:cubicBezTo>
                    <a:pt x="723900" y="502666"/>
                    <a:pt x="578866" y="647700"/>
                    <a:pt x="400050" y="647700"/>
                  </a:cubicBezTo>
                  <a:lnTo>
                    <a:pt x="323850" y="647700"/>
                  </a:lnTo>
                  <a:cubicBezTo>
                    <a:pt x="145034" y="647700"/>
                    <a:pt x="0" y="502666"/>
                    <a:pt x="0" y="323850"/>
                  </a:cubicBezTo>
                  <a:close/>
                </a:path>
              </a:pathLst>
            </a:custGeom>
            <a:solidFill>
              <a:srgbClr val="14533C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85912" y="7029450"/>
            <a:ext cx="542925" cy="485775"/>
            <a:chOff x="0" y="0"/>
            <a:chExt cx="723900" cy="6477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23900" cy="647700"/>
            </a:xfrm>
            <a:custGeom>
              <a:avLst/>
              <a:gdLst/>
              <a:ahLst/>
              <a:cxnLst/>
              <a:rect l="l" t="t" r="r" b="b"/>
              <a:pathLst>
                <a:path w="723900" h="647700">
                  <a:moveTo>
                    <a:pt x="0" y="323850"/>
                  </a:moveTo>
                  <a:cubicBezTo>
                    <a:pt x="0" y="145034"/>
                    <a:pt x="145034" y="0"/>
                    <a:pt x="323850" y="0"/>
                  </a:cubicBezTo>
                  <a:lnTo>
                    <a:pt x="400050" y="0"/>
                  </a:lnTo>
                  <a:cubicBezTo>
                    <a:pt x="578866" y="0"/>
                    <a:pt x="723900" y="145034"/>
                    <a:pt x="723900" y="323850"/>
                  </a:cubicBezTo>
                  <a:cubicBezTo>
                    <a:pt x="723900" y="502666"/>
                    <a:pt x="578866" y="647700"/>
                    <a:pt x="400050" y="647700"/>
                  </a:cubicBezTo>
                  <a:lnTo>
                    <a:pt x="323850" y="647700"/>
                  </a:lnTo>
                  <a:cubicBezTo>
                    <a:pt x="145034" y="647700"/>
                    <a:pt x="0" y="502666"/>
                    <a:pt x="0" y="323850"/>
                  </a:cubicBezTo>
                  <a:close/>
                </a:path>
              </a:pathLst>
            </a:custGeom>
            <a:solidFill>
              <a:srgbClr val="14533C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072688" y="4400550"/>
            <a:ext cx="514350" cy="485775"/>
            <a:chOff x="0" y="0"/>
            <a:chExt cx="685800" cy="6477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85800" cy="647700"/>
            </a:xfrm>
            <a:custGeom>
              <a:avLst/>
              <a:gdLst/>
              <a:ahLst/>
              <a:cxnLst/>
              <a:rect l="l" t="t" r="r" b="b"/>
              <a:pathLst>
                <a:path w="685800" h="647700">
                  <a:moveTo>
                    <a:pt x="0" y="323850"/>
                  </a:moveTo>
                  <a:cubicBezTo>
                    <a:pt x="0" y="145034"/>
                    <a:pt x="145034" y="0"/>
                    <a:pt x="323850" y="0"/>
                  </a:cubicBezTo>
                  <a:lnTo>
                    <a:pt x="361950" y="0"/>
                  </a:lnTo>
                  <a:cubicBezTo>
                    <a:pt x="540766" y="0"/>
                    <a:pt x="685800" y="145034"/>
                    <a:pt x="685800" y="323850"/>
                  </a:cubicBezTo>
                  <a:cubicBezTo>
                    <a:pt x="685800" y="502666"/>
                    <a:pt x="540766" y="647700"/>
                    <a:pt x="361950" y="647700"/>
                  </a:cubicBezTo>
                  <a:lnTo>
                    <a:pt x="323850" y="647700"/>
                  </a:lnTo>
                  <a:cubicBezTo>
                    <a:pt x="145034" y="647700"/>
                    <a:pt x="0" y="502666"/>
                    <a:pt x="0" y="323850"/>
                  </a:cubicBezTo>
                  <a:close/>
                </a:path>
              </a:pathLst>
            </a:custGeom>
            <a:solidFill>
              <a:srgbClr val="14533C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072688" y="5715000"/>
            <a:ext cx="542925" cy="485775"/>
            <a:chOff x="0" y="0"/>
            <a:chExt cx="723900" cy="6477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23900" cy="647700"/>
            </a:xfrm>
            <a:custGeom>
              <a:avLst/>
              <a:gdLst/>
              <a:ahLst/>
              <a:cxnLst/>
              <a:rect l="l" t="t" r="r" b="b"/>
              <a:pathLst>
                <a:path w="723900" h="647700">
                  <a:moveTo>
                    <a:pt x="0" y="323850"/>
                  </a:moveTo>
                  <a:cubicBezTo>
                    <a:pt x="0" y="145034"/>
                    <a:pt x="145034" y="0"/>
                    <a:pt x="323850" y="0"/>
                  </a:cubicBezTo>
                  <a:lnTo>
                    <a:pt x="400050" y="0"/>
                  </a:lnTo>
                  <a:cubicBezTo>
                    <a:pt x="578866" y="0"/>
                    <a:pt x="723900" y="145034"/>
                    <a:pt x="723900" y="323850"/>
                  </a:cubicBezTo>
                  <a:cubicBezTo>
                    <a:pt x="723900" y="502666"/>
                    <a:pt x="578866" y="647700"/>
                    <a:pt x="400050" y="647700"/>
                  </a:cubicBezTo>
                  <a:lnTo>
                    <a:pt x="323850" y="647700"/>
                  </a:lnTo>
                  <a:cubicBezTo>
                    <a:pt x="145034" y="647700"/>
                    <a:pt x="0" y="502666"/>
                    <a:pt x="0" y="323850"/>
                  </a:cubicBezTo>
                  <a:close/>
                </a:path>
              </a:pathLst>
            </a:custGeom>
            <a:solidFill>
              <a:srgbClr val="14533C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072688" y="7029450"/>
            <a:ext cx="542925" cy="485775"/>
            <a:chOff x="0" y="0"/>
            <a:chExt cx="723900" cy="6477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23900" cy="647700"/>
            </a:xfrm>
            <a:custGeom>
              <a:avLst/>
              <a:gdLst/>
              <a:ahLst/>
              <a:cxnLst/>
              <a:rect l="l" t="t" r="r" b="b"/>
              <a:pathLst>
                <a:path w="723900" h="647700">
                  <a:moveTo>
                    <a:pt x="0" y="323850"/>
                  </a:moveTo>
                  <a:cubicBezTo>
                    <a:pt x="0" y="145034"/>
                    <a:pt x="145034" y="0"/>
                    <a:pt x="323850" y="0"/>
                  </a:cubicBezTo>
                  <a:lnTo>
                    <a:pt x="400050" y="0"/>
                  </a:lnTo>
                  <a:cubicBezTo>
                    <a:pt x="578866" y="0"/>
                    <a:pt x="723900" y="145034"/>
                    <a:pt x="723900" y="323850"/>
                  </a:cubicBezTo>
                  <a:cubicBezTo>
                    <a:pt x="723900" y="502666"/>
                    <a:pt x="578866" y="647700"/>
                    <a:pt x="400050" y="647700"/>
                  </a:cubicBezTo>
                  <a:lnTo>
                    <a:pt x="323850" y="647700"/>
                  </a:lnTo>
                  <a:cubicBezTo>
                    <a:pt x="145034" y="647700"/>
                    <a:pt x="0" y="502666"/>
                    <a:pt x="0" y="323850"/>
                  </a:cubicBezTo>
                  <a:close/>
                </a:path>
              </a:pathLst>
            </a:custGeom>
            <a:solidFill>
              <a:srgbClr val="14533C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031103" y="3462338"/>
            <a:ext cx="342900" cy="342900"/>
            <a:chOff x="0" y="0"/>
            <a:chExt cx="457200" cy="457200"/>
          </a:xfrm>
        </p:grpSpPr>
        <p:sp>
          <p:nvSpPr>
            <p:cNvPr id="33" name="Freeform 33" descr="image.png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811074" y="3443288"/>
            <a:ext cx="428625" cy="342900"/>
            <a:chOff x="0" y="0"/>
            <a:chExt cx="571500" cy="457200"/>
          </a:xfrm>
        </p:grpSpPr>
        <p:sp>
          <p:nvSpPr>
            <p:cNvPr id="35" name="Freeform 35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-571500" y="542925"/>
            <a:ext cx="19431000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70"/>
              </a:lnSpc>
            </a:pPr>
            <a:r>
              <a:rPr lang="en-US" sz="4725" b="1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INTERESES PROFESIONALES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525615" y="3454974"/>
            <a:ext cx="3262759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Benjamín Ascencio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239699" y="3428602"/>
            <a:ext cx="2943905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Pablo Carrasco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785938" y="4476750"/>
            <a:ext cx="257175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FFFFFF"/>
                </a:solidFill>
                <a:latin typeface="Bitter Bold"/>
                <a:ea typeface="Bitter Bold"/>
                <a:cs typeface="Bitter Bold"/>
                <a:sym typeface="Bitter Bold"/>
              </a:rPr>
              <a:t>1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328862" y="4319587"/>
            <a:ext cx="6029325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Enfoque:</a:t>
            </a:r>
            <a:r>
              <a:rPr lang="en-US" sz="2025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 Persistencia, modelado relacional y documentación técnica.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785938" y="5791200"/>
            <a:ext cx="28575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FFFFFF"/>
                </a:solidFill>
                <a:latin typeface="Bitter Bold"/>
                <a:ea typeface="Bitter Bold"/>
                <a:cs typeface="Bitter Bold"/>
                <a:sym typeface="Bitter Bold"/>
              </a:rPr>
              <a:t>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357438" y="5634037"/>
            <a:ext cx="6000750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Nuevo Desafío:</a:t>
            </a:r>
            <a:r>
              <a:rPr lang="en-US" sz="2025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 PostgreSQL + Prisma ORM para alta concurrencia.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785938" y="7105650"/>
            <a:ext cx="28575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FFFFFF"/>
                </a:solidFill>
                <a:latin typeface="Bitter Bold"/>
                <a:ea typeface="Bitter Bold"/>
                <a:cs typeface="Bitter Bold"/>
                <a:sym typeface="Bitter Bold"/>
              </a:rPr>
              <a:t>3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357438" y="6948487"/>
            <a:ext cx="6000750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Crecimiento:</a:t>
            </a:r>
            <a:r>
              <a:rPr lang="en-US" sz="2025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 Habilidades comunicativas y trabajo colaborativo.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272712" y="4476750"/>
            <a:ext cx="257175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FFFFFF"/>
                </a:solidFill>
                <a:latin typeface="Bitter Bold"/>
                <a:ea typeface="Bitter Bold"/>
                <a:cs typeface="Bitter Bold"/>
                <a:sym typeface="Bitter Bold"/>
              </a:rPr>
              <a:t>1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815638" y="4319587"/>
            <a:ext cx="6029325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Enfoque:</a:t>
            </a:r>
            <a:r>
              <a:rPr lang="en-US" sz="2025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 Interfaz reactiva, accesibilidad y experiencia de usuario.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272712" y="5791200"/>
            <a:ext cx="28575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FFFFFF"/>
                </a:solidFill>
                <a:latin typeface="Bitter Bold"/>
                <a:ea typeface="Bitter Bold"/>
                <a:cs typeface="Bitter Bold"/>
                <a:sym typeface="Bitter Bold"/>
              </a:rPr>
              <a:t>2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844212" y="5634037"/>
            <a:ext cx="6000750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Nuevo Desafío:</a:t>
            </a:r>
            <a:r>
              <a:rPr lang="en-US" sz="2025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 Next.js, React y Tailwind CSS bajo estándares profesionales.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272712" y="7105650"/>
            <a:ext cx="28575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FFFFFF"/>
                </a:solidFill>
                <a:latin typeface="Bitter Bold"/>
                <a:ea typeface="Bitter Bold"/>
                <a:cs typeface="Bitter Bold"/>
                <a:sym typeface="Bitter Bold"/>
              </a:rPr>
              <a:t>3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844212" y="6948487"/>
            <a:ext cx="6000750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Crecimiento:</a:t>
            </a:r>
            <a:r>
              <a:rPr lang="en-US" sz="2025">
                <a:solidFill>
                  <a:srgbClr val="0D4B38"/>
                </a:solidFill>
                <a:latin typeface="Bitter"/>
                <a:ea typeface="Bitter"/>
                <a:cs typeface="Bitter"/>
                <a:sym typeface="Bitter"/>
              </a:rPr>
              <a:t> Gestión de riesgos de software y diseño inclusivo.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-3010580" y="5590669"/>
            <a:ext cx="9602560" cy="8358070"/>
            <a:chOff x="0" y="0"/>
            <a:chExt cx="12803413" cy="11144093"/>
          </a:xfrm>
        </p:grpSpPr>
        <p:sp>
          <p:nvSpPr>
            <p:cNvPr id="52" name="Freeform 52"/>
            <p:cNvSpPr/>
            <p:nvPr/>
          </p:nvSpPr>
          <p:spPr>
            <a:xfrm flipH="1" flipV="1">
              <a:off x="0" y="0"/>
              <a:ext cx="12803413" cy="8985668"/>
            </a:xfrm>
            <a:custGeom>
              <a:avLst/>
              <a:gdLst/>
              <a:ahLst/>
              <a:cxnLst/>
              <a:rect l="l" t="t" r="r" b="b"/>
              <a:pathLst>
                <a:path w="12803413" h="8985668">
                  <a:moveTo>
                    <a:pt x="12803413" y="8985668"/>
                  </a:moveTo>
                  <a:lnTo>
                    <a:pt x="0" y="8985668"/>
                  </a:lnTo>
                  <a:lnTo>
                    <a:pt x="0" y="0"/>
                  </a:lnTo>
                  <a:lnTo>
                    <a:pt x="12803413" y="0"/>
                  </a:lnTo>
                  <a:lnTo>
                    <a:pt x="12803413" y="8985668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53" name="Freeform 53"/>
            <p:cNvSpPr/>
            <p:nvPr/>
          </p:nvSpPr>
          <p:spPr>
            <a:xfrm rot="-8920123">
              <a:off x="1566182" y="5536962"/>
              <a:ext cx="9753600" cy="3312812"/>
            </a:xfrm>
            <a:custGeom>
              <a:avLst/>
              <a:gdLst/>
              <a:ahLst/>
              <a:cxnLst/>
              <a:rect l="l" t="t" r="r" b="b"/>
              <a:pathLst>
                <a:path w="9753600" h="3312812">
                  <a:moveTo>
                    <a:pt x="0" y="0"/>
                  </a:moveTo>
                  <a:lnTo>
                    <a:pt x="9753600" y="0"/>
                  </a:lnTo>
                  <a:lnTo>
                    <a:pt x="9753600" y="3312812"/>
                  </a:lnTo>
                  <a:lnTo>
                    <a:pt x="0" y="33128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-3010580" y="5590669"/>
            <a:ext cx="9602560" cy="8374424"/>
            <a:chOff x="0" y="0"/>
            <a:chExt cx="12803413" cy="11165899"/>
          </a:xfrm>
        </p:grpSpPr>
        <p:sp>
          <p:nvSpPr>
            <p:cNvPr id="55" name="Freeform 55"/>
            <p:cNvSpPr/>
            <p:nvPr/>
          </p:nvSpPr>
          <p:spPr>
            <a:xfrm flipH="1" flipV="1">
              <a:off x="0" y="0"/>
              <a:ext cx="12803413" cy="8985668"/>
            </a:xfrm>
            <a:custGeom>
              <a:avLst/>
              <a:gdLst/>
              <a:ahLst/>
              <a:cxnLst/>
              <a:rect l="l" t="t" r="r" b="b"/>
              <a:pathLst>
                <a:path w="12803413" h="8985668">
                  <a:moveTo>
                    <a:pt x="12803413" y="8985668"/>
                  </a:moveTo>
                  <a:lnTo>
                    <a:pt x="0" y="8985668"/>
                  </a:lnTo>
                  <a:lnTo>
                    <a:pt x="0" y="0"/>
                  </a:lnTo>
                  <a:lnTo>
                    <a:pt x="12803413" y="0"/>
                  </a:lnTo>
                  <a:lnTo>
                    <a:pt x="12803413" y="8985668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56" name="Freeform 56"/>
            <p:cNvSpPr/>
            <p:nvPr/>
          </p:nvSpPr>
          <p:spPr>
            <a:xfrm rot="-8920123">
              <a:off x="1524907" y="5558768"/>
              <a:ext cx="9753600" cy="3312812"/>
            </a:xfrm>
            <a:custGeom>
              <a:avLst/>
              <a:gdLst/>
              <a:ahLst/>
              <a:cxnLst/>
              <a:rect l="l" t="t" r="r" b="b"/>
              <a:pathLst>
                <a:path w="9753600" h="3312812">
                  <a:moveTo>
                    <a:pt x="0" y="0"/>
                  </a:moveTo>
                  <a:lnTo>
                    <a:pt x="9753600" y="0"/>
                  </a:lnTo>
                  <a:lnTo>
                    <a:pt x="9753600" y="3312812"/>
                  </a:lnTo>
                  <a:lnTo>
                    <a:pt x="0" y="33128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07256" y="2907506"/>
            <a:ext cx="5262486" cy="5329238"/>
            <a:chOff x="0" y="0"/>
            <a:chExt cx="7016648" cy="71056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016623" cy="7105650"/>
            </a:xfrm>
            <a:custGeom>
              <a:avLst/>
              <a:gdLst/>
              <a:ahLst/>
              <a:cxnLst/>
              <a:rect l="l" t="t" r="r" b="b"/>
              <a:pathLst>
                <a:path w="7016623" h="7105650">
                  <a:moveTo>
                    <a:pt x="0" y="305562"/>
                  </a:moveTo>
                  <a:cubicBezTo>
                    <a:pt x="0" y="136779"/>
                    <a:pt x="136779" y="0"/>
                    <a:pt x="305562" y="0"/>
                  </a:cubicBezTo>
                  <a:lnTo>
                    <a:pt x="6711061" y="0"/>
                  </a:lnTo>
                  <a:cubicBezTo>
                    <a:pt x="6879844" y="0"/>
                    <a:pt x="7016623" y="136779"/>
                    <a:pt x="7016623" y="305562"/>
                  </a:cubicBezTo>
                  <a:lnTo>
                    <a:pt x="7016623" y="6800088"/>
                  </a:lnTo>
                  <a:cubicBezTo>
                    <a:pt x="7016623" y="6968871"/>
                    <a:pt x="6879844" y="7105650"/>
                    <a:pt x="6711061" y="7105650"/>
                  </a:cubicBezTo>
                  <a:lnTo>
                    <a:pt x="305562" y="7105650"/>
                  </a:lnTo>
                  <a:cubicBezTo>
                    <a:pt x="136779" y="7105650"/>
                    <a:pt x="0" y="6968871"/>
                    <a:pt x="0" y="6800088"/>
                  </a:cubicBezTo>
                  <a:close/>
                </a:path>
              </a:pathLst>
            </a:custGeom>
            <a:solidFill>
              <a:srgbClr val="E3F1EB"/>
            </a:solidFill>
            <a:ln w="14288" cap="sq">
              <a:solidFill>
                <a:srgbClr val="B7D9C9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91211" y="2255390"/>
            <a:ext cx="5305349" cy="6666179"/>
            <a:chOff x="0" y="0"/>
            <a:chExt cx="7073798" cy="888823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73773" cy="8888239"/>
            </a:xfrm>
            <a:custGeom>
              <a:avLst/>
              <a:gdLst/>
              <a:ahLst/>
              <a:cxnLst/>
              <a:rect l="l" t="t" r="r" b="b"/>
              <a:pathLst>
                <a:path w="7073773" h="8888239">
                  <a:moveTo>
                    <a:pt x="0" y="381286"/>
                  </a:moveTo>
                  <a:cubicBezTo>
                    <a:pt x="0" y="170654"/>
                    <a:pt x="137160" y="0"/>
                    <a:pt x="306451" y="0"/>
                  </a:cubicBezTo>
                  <a:lnTo>
                    <a:pt x="6767322" y="0"/>
                  </a:lnTo>
                  <a:cubicBezTo>
                    <a:pt x="6936613" y="0"/>
                    <a:pt x="7073773" y="170654"/>
                    <a:pt x="7073773" y="381286"/>
                  </a:cubicBezTo>
                  <a:lnTo>
                    <a:pt x="7073773" y="8506953"/>
                  </a:lnTo>
                  <a:cubicBezTo>
                    <a:pt x="7073773" y="8717585"/>
                    <a:pt x="6936613" y="8888239"/>
                    <a:pt x="6767322" y="8888239"/>
                  </a:cubicBezTo>
                  <a:lnTo>
                    <a:pt x="306451" y="8888239"/>
                  </a:lnTo>
                  <a:cubicBezTo>
                    <a:pt x="137160" y="8888239"/>
                    <a:pt x="0" y="8717585"/>
                    <a:pt x="0" y="8506953"/>
                  </a:cubicBezTo>
                  <a:close/>
                </a:path>
              </a:pathLst>
            </a:custGeom>
            <a:solidFill>
              <a:srgbClr val="FFF1B8"/>
            </a:solidFill>
            <a:ln w="28575" cap="sq">
              <a:solidFill>
                <a:srgbClr val="FCD34D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18029" y="2771775"/>
            <a:ext cx="5262486" cy="5600700"/>
            <a:chOff x="0" y="0"/>
            <a:chExt cx="7016648" cy="7467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016623" cy="7467600"/>
            </a:xfrm>
            <a:custGeom>
              <a:avLst/>
              <a:gdLst/>
              <a:ahLst/>
              <a:cxnLst/>
              <a:rect l="l" t="t" r="r" b="b"/>
              <a:pathLst>
                <a:path w="7016623" h="7467600">
                  <a:moveTo>
                    <a:pt x="0" y="305562"/>
                  </a:moveTo>
                  <a:cubicBezTo>
                    <a:pt x="0" y="136779"/>
                    <a:pt x="136779" y="0"/>
                    <a:pt x="305562" y="0"/>
                  </a:cubicBezTo>
                  <a:lnTo>
                    <a:pt x="6711061" y="0"/>
                  </a:lnTo>
                  <a:cubicBezTo>
                    <a:pt x="6879844" y="0"/>
                    <a:pt x="7016623" y="136779"/>
                    <a:pt x="7016623" y="305562"/>
                  </a:cubicBezTo>
                  <a:lnTo>
                    <a:pt x="7016623" y="7162038"/>
                  </a:lnTo>
                  <a:cubicBezTo>
                    <a:pt x="7016623" y="7330821"/>
                    <a:pt x="6879844" y="7467600"/>
                    <a:pt x="6711061" y="7467600"/>
                  </a:cubicBezTo>
                  <a:lnTo>
                    <a:pt x="305562" y="7467600"/>
                  </a:lnTo>
                  <a:cubicBezTo>
                    <a:pt x="136779" y="7467600"/>
                    <a:pt x="0" y="7330821"/>
                    <a:pt x="0" y="7162038"/>
                  </a:cubicBezTo>
                  <a:close/>
                </a:path>
              </a:pathLst>
            </a:custGeom>
            <a:solidFill>
              <a:srgbClr val="AEB8C4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85862" y="3714750"/>
            <a:ext cx="4705274" cy="1885950"/>
            <a:chOff x="0" y="0"/>
            <a:chExt cx="6273698" cy="2514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273800" cy="2514600"/>
            </a:xfrm>
            <a:custGeom>
              <a:avLst/>
              <a:gdLst/>
              <a:ahLst/>
              <a:cxnLst/>
              <a:rect l="l" t="t" r="r" b="b"/>
              <a:pathLst>
                <a:path w="6273800" h="25146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6045200" y="0"/>
                  </a:lnTo>
                  <a:cubicBezTo>
                    <a:pt x="6171438" y="0"/>
                    <a:pt x="6273800" y="102362"/>
                    <a:pt x="6273800" y="228600"/>
                  </a:cubicBezTo>
                  <a:lnTo>
                    <a:pt x="6273800" y="2286000"/>
                  </a:lnTo>
                  <a:cubicBezTo>
                    <a:pt x="6273800" y="2412238"/>
                    <a:pt x="6171438" y="2514600"/>
                    <a:pt x="6045200" y="2514600"/>
                  </a:cubicBezTo>
                  <a:lnTo>
                    <a:pt x="228600" y="2514600"/>
                  </a:lnTo>
                  <a:cubicBezTo>
                    <a:pt x="102362" y="2514600"/>
                    <a:pt x="0" y="2412238"/>
                    <a:pt x="0" y="22860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85862" y="5800725"/>
            <a:ext cx="4705274" cy="2157412"/>
            <a:chOff x="0" y="0"/>
            <a:chExt cx="6273698" cy="28765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273673" cy="2876550"/>
            </a:xfrm>
            <a:custGeom>
              <a:avLst/>
              <a:gdLst/>
              <a:ahLst/>
              <a:cxnLst/>
              <a:rect l="l" t="t" r="r" b="b"/>
              <a:pathLst>
                <a:path w="6273673" h="287655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6045073" y="0"/>
                  </a:lnTo>
                  <a:cubicBezTo>
                    <a:pt x="6171311" y="0"/>
                    <a:pt x="6273673" y="102362"/>
                    <a:pt x="6273673" y="228600"/>
                  </a:cubicBezTo>
                  <a:lnTo>
                    <a:pt x="6273673" y="2647950"/>
                  </a:lnTo>
                  <a:cubicBezTo>
                    <a:pt x="6273673" y="2774188"/>
                    <a:pt x="6171311" y="2876550"/>
                    <a:pt x="6045073" y="2876550"/>
                  </a:cubicBezTo>
                  <a:lnTo>
                    <a:pt x="228600" y="2876550"/>
                  </a:lnTo>
                  <a:cubicBezTo>
                    <a:pt x="102362" y="2876550"/>
                    <a:pt x="0" y="2774188"/>
                    <a:pt x="0" y="264795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791249" y="3221831"/>
            <a:ext cx="4705274" cy="5150644"/>
            <a:chOff x="0" y="0"/>
            <a:chExt cx="6273698" cy="686752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273673" cy="6867525"/>
            </a:xfrm>
            <a:custGeom>
              <a:avLst/>
              <a:gdLst/>
              <a:ahLst/>
              <a:cxnLst/>
              <a:rect l="l" t="t" r="r" b="b"/>
              <a:pathLst>
                <a:path w="6273673" h="6867525">
                  <a:moveTo>
                    <a:pt x="0" y="278413"/>
                  </a:moveTo>
                  <a:cubicBezTo>
                    <a:pt x="0" y="124667"/>
                    <a:pt x="102362" y="0"/>
                    <a:pt x="228600" y="0"/>
                  </a:cubicBezTo>
                  <a:lnTo>
                    <a:pt x="6045073" y="0"/>
                  </a:lnTo>
                  <a:cubicBezTo>
                    <a:pt x="6171311" y="0"/>
                    <a:pt x="6273673" y="124667"/>
                    <a:pt x="6273673" y="278413"/>
                  </a:cubicBezTo>
                  <a:lnTo>
                    <a:pt x="6273673" y="6589112"/>
                  </a:lnTo>
                  <a:cubicBezTo>
                    <a:pt x="6273673" y="6742858"/>
                    <a:pt x="6171311" y="6867525"/>
                    <a:pt x="6045073" y="6867525"/>
                  </a:cubicBezTo>
                  <a:lnTo>
                    <a:pt x="228600" y="6867525"/>
                  </a:lnTo>
                  <a:cubicBezTo>
                    <a:pt x="102362" y="6867525"/>
                    <a:pt x="0" y="6742858"/>
                    <a:pt x="0" y="658911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396635" y="3579019"/>
            <a:ext cx="4705274" cy="2157412"/>
            <a:chOff x="0" y="0"/>
            <a:chExt cx="6273698" cy="28765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273673" cy="2876550"/>
            </a:xfrm>
            <a:custGeom>
              <a:avLst/>
              <a:gdLst/>
              <a:ahLst/>
              <a:cxnLst/>
              <a:rect l="l" t="t" r="r" b="b"/>
              <a:pathLst>
                <a:path w="6273673" h="287655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6045073" y="0"/>
                  </a:lnTo>
                  <a:cubicBezTo>
                    <a:pt x="6171311" y="0"/>
                    <a:pt x="6273673" y="102362"/>
                    <a:pt x="6273673" y="228600"/>
                  </a:cubicBezTo>
                  <a:lnTo>
                    <a:pt x="6273673" y="2647950"/>
                  </a:lnTo>
                  <a:cubicBezTo>
                    <a:pt x="6273673" y="2774188"/>
                    <a:pt x="6171311" y="2876550"/>
                    <a:pt x="6045073" y="2876550"/>
                  </a:cubicBezTo>
                  <a:lnTo>
                    <a:pt x="228600" y="2876550"/>
                  </a:lnTo>
                  <a:cubicBezTo>
                    <a:pt x="102362" y="2876550"/>
                    <a:pt x="0" y="2774188"/>
                    <a:pt x="0" y="264795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396635" y="5936456"/>
            <a:ext cx="4705274" cy="2157412"/>
            <a:chOff x="0" y="0"/>
            <a:chExt cx="6273698" cy="28765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273673" cy="2876550"/>
            </a:xfrm>
            <a:custGeom>
              <a:avLst/>
              <a:gdLst/>
              <a:ahLst/>
              <a:cxnLst/>
              <a:rect l="l" t="t" r="r" b="b"/>
              <a:pathLst>
                <a:path w="6273673" h="287655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6045073" y="0"/>
                  </a:lnTo>
                  <a:cubicBezTo>
                    <a:pt x="6171311" y="0"/>
                    <a:pt x="6273673" y="102362"/>
                    <a:pt x="6273673" y="228600"/>
                  </a:cubicBezTo>
                  <a:lnTo>
                    <a:pt x="6273673" y="2647950"/>
                  </a:lnTo>
                  <a:cubicBezTo>
                    <a:pt x="6273673" y="2774188"/>
                    <a:pt x="6171311" y="2876550"/>
                    <a:pt x="6045073" y="2876550"/>
                  </a:cubicBezTo>
                  <a:lnTo>
                    <a:pt x="228600" y="2876550"/>
                  </a:lnTo>
                  <a:cubicBezTo>
                    <a:pt x="102362" y="2876550"/>
                    <a:pt x="0" y="2774188"/>
                    <a:pt x="0" y="264795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069855" y="6479381"/>
            <a:ext cx="4148061" cy="1557338"/>
            <a:chOff x="0" y="0"/>
            <a:chExt cx="5530748" cy="207645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530596" cy="2076450"/>
            </a:xfrm>
            <a:custGeom>
              <a:avLst/>
              <a:gdLst/>
              <a:ahLst/>
              <a:cxnLst/>
              <a:rect l="l" t="t" r="r" b="b"/>
              <a:pathLst>
                <a:path w="5530596" h="2076450">
                  <a:moveTo>
                    <a:pt x="0" y="200064"/>
                  </a:moveTo>
                  <a:cubicBezTo>
                    <a:pt x="0" y="89650"/>
                    <a:pt x="69088" y="0"/>
                    <a:pt x="154178" y="0"/>
                  </a:cubicBezTo>
                  <a:lnTo>
                    <a:pt x="5376418" y="0"/>
                  </a:lnTo>
                  <a:cubicBezTo>
                    <a:pt x="5461635" y="0"/>
                    <a:pt x="5530596" y="89650"/>
                    <a:pt x="5530596" y="200064"/>
                  </a:cubicBezTo>
                  <a:lnTo>
                    <a:pt x="5530596" y="1876386"/>
                  </a:lnTo>
                  <a:cubicBezTo>
                    <a:pt x="5530596" y="1986965"/>
                    <a:pt x="5461508" y="2076450"/>
                    <a:pt x="5376418" y="2076450"/>
                  </a:cubicBezTo>
                  <a:lnTo>
                    <a:pt x="154178" y="2076450"/>
                  </a:lnTo>
                  <a:cubicBezTo>
                    <a:pt x="69088" y="2076450"/>
                    <a:pt x="0" y="1986800"/>
                    <a:pt x="0" y="1876386"/>
                  </a:cubicBezTo>
                  <a:close/>
                </a:path>
              </a:pathLst>
            </a:custGeom>
            <a:solidFill>
              <a:srgbClr val="FFFBEB"/>
            </a:solidFill>
            <a:ln w="14288" cap="sq">
              <a:solidFill>
                <a:srgbClr val="FCD34D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85862" y="3214688"/>
            <a:ext cx="271462" cy="271462"/>
            <a:chOff x="0" y="0"/>
            <a:chExt cx="361950" cy="361950"/>
          </a:xfrm>
        </p:grpSpPr>
        <p:sp>
          <p:nvSpPr>
            <p:cNvPr id="23" name="Freeform 23" descr="image.png"/>
            <p:cNvSpPr/>
            <p:nvPr/>
          </p:nvSpPr>
          <p:spPr>
            <a:xfrm>
              <a:off x="0" y="0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0" y="0"/>
                  </a:moveTo>
                  <a:lnTo>
                    <a:pt x="361950" y="0"/>
                  </a:lnTo>
                  <a:lnTo>
                    <a:pt x="36195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805536" y="2607469"/>
            <a:ext cx="271462" cy="271462"/>
            <a:chOff x="0" y="0"/>
            <a:chExt cx="361950" cy="361950"/>
          </a:xfrm>
        </p:grpSpPr>
        <p:sp>
          <p:nvSpPr>
            <p:cNvPr id="25" name="Freeform 25" descr="image.png"/>
            <p:cNvSpPr/>
            <p:nvPr/>
          </p:nvSpPr>
          <p:spPr>
            <a:xfrm>
              <a:off x="0" y="0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0" y="0"/>
                  </a:moveTo>
                  <a:lnTo>
                    <a:pt x="361950" y="0"/>
                  </a:lnTo>
                  <a:lnTo>
                    <a:pt x="36195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396635" y="3078956"/>
            <a:ext cx="242888" cy="271462"/>
            <a:chOff x="0" y="0"/>
            <a:chExt cx="323850" cy="361950"/>
          </a:xfrm>
        </p:grpSpPr>
        <p:sp>
          <p:nvSpPr>
            <p:cNvPr id="27" name="Freeform 27" descr="image.png"/>
            <p:cNvSpPr/>
            <p:nvPr/>
          </p:nvSpPr>
          <p:spPr>
            <a:xfrm>
              <a:off x="0" y="0"/>
              <a:ext cx="323850" cy="361950"/>
            </a:xfrm>
            <a:custGeom>
              <a:avLst/>
              <a:gdLst/>
              <a:ahLst/>
              <a:cxnLst/>
              <a:rect l="l" t="t" r="r" b="b"/>
              <a:pathLst>
                <a:path w="323850" h="361950">
                  <a:moveTo>
                    <a:pt x="0" y="0"/>
                  </a:moveTo>
                  <a:lnTo>
                    <a:pt x="323850" y="0"/>
                  </a:lnTo>
                  <a:lnTo>
                    <a:pt x="32385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631" b="-2631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2143361" y="436115"/>
            <a:ext cx="14001279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1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METODOLOGÍA Y PLAN DE TRABAJO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71530" y="3188590"/>
            <a:ext cx="2612231" cy="338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1" dirty="0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COMPLETADA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221972" y="3213735"/>
            <a:ext cx="181451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1" dirty="0">
                <a:solidFill>
                  <a:srgbClr val="14533C"/>
                </a:solidFill>
                <a:latin typeface="Bitter Bold"/>
                <a:ea typeface="Bitter Bold"/>
                <a:cs typeface="Bitter Bold"/>
                <a:sym typeface="Bitter Bold"/>
              </a:rPr>
              <a:t>Semanas 5 - 9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14462" y="3933825"/>
            <a:ext cx="5310092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Sprint 1 (S5 - S7)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14462" y="4333875"/>
            <a:ext cx="5310092" cy="280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C2B26"/>
                </a:solidFill>
                <a:latin typeface="Bitter"/>
                <a:ea typeface="Bitter"/>
                <a:cs typeface="Bitter"/>
                <a:sym typeface="Bitter"/>
              </a:rPr>
              <a:t>• Persistencia Prisma y PostgreSQL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14462" y="4691063"/>
            <a:ext cx="5310092" cy="280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C2B26"/>
                </a:solidFill>
                <a:latin typeface="Bitter"/>
                <a:ea typeface="Bitter"/>
                <a:cs typeface="Bitter"/>
                <a:sym typeface="Bitter"/>
              </a:rPr>
              <a:t>• Seeding, Faker y lógica de agendas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14462" y="5105400"/>
            <a:ext cx="531009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1">
                <a:solidFill>
                  <a:srgbClr val="14533C"/>
                </a:solidFill>
                <a:latin typeface="Bitter Bold"/>
                <a:ea typeface="Bitter Bold"/>
                <a:cs typeface="Bitter Bold"/>
                <a:sym typeface="Bitter Bold"/>
              </a:rPr>
              <a:t>HU-001: Ingreso por RUT en la Web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14462" y="6019800"/>
            <a:ext cx="5310092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Sprint 2 (S8 - S9)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14462" y="6419850"/>
            <a:ext cx="4390949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C2B26"/>
                </a:solidFill>
                <a:latin typeface="Bitter"/>
                <a:ea typeface="Bitter"/>
                <a:cs typeface="Bitter"/>
                <a:sym typeface="Bitter"/>
              </a:rPr>
              <a:t>• Apertura agendas SOME y validación RUT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14462" y="7048500"/>
            <a:ext cx="5310092" cy="280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C2B26"/>
                </a:solidFill>
                <a:latin typeface="Bitter"/>
                <a:ea typeface="Bitter"/>
                <a:cs typeface="Bitter"/>
                <a:sym typeface="Bitter"/>
              </a:rPr>
              <a:t>• Módulo ventanilla presencial SOME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14462" y="7462837"/>
            <a:ext cx="531009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1">
                <a:solidFill>
                  <a:srgbClr val="14533C"/>
                </a:solidFill>
                <a:latin typeface="Bitter Bold"/>
                <a:ea typeface="Bitter Bold"/>
                <a:cs typeface="Bitter Bold"/>
                <a:sym typeface="Bitter Bold"/>
              </a:rPr>
              <a:t>HU-005 (Agendas) · HU-006 (Ventanilla)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262736" y="2569369"/>
            <a:ext cx="2668486" cy="338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1" dirty="0">
                <a:solidFill>
                  <a:srgbClr val="9A3412"/>
                </a:solidFill>
                <a:latin typeface="Bitter Bold"/>
                <a:ea typeface="Bitter Bold"/>
                <a:cs typeface="Bitter Bold"/>
                <a:sym typeface="Bitter Bold"/>
              </a:rPr>
              <a:t>EN EJECUCIÓN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524848" y="2597944"/>
            <a:ext cx="197167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1">
                <a:solidFill>
                  <a:srgbClr val="9A3412"/>
                </a:solidFill>
                <a:latin typeface="Bitter Bold"/>
                <a:ea typeface="Bitter Bold"/>
                <a:cs typeface="Bitter Bold"/>
                <a:sym typeface="Bitter Bold"/>
              </a:rPr>
              <a:t>Semanas 10 - 11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935728" y="3436144"/>
            <a:ext cx="4416316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9A3412"/>
                </a:solidFill>
                <a:latin typeface="Bitter Bold"/>
                <a:ea typeface="Bitter Bold"/>
                <a:cs typeface="Bitter Bold"/>
                <a:sym typeface="Bitter Bold"/>
              </a:rPr>
              <a:t>Sprint 3 · Motor Transaccional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030564" y="4179094"/>
            <a:ext cx="5167217" cy="300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1C2B26"/>
                </a:solidFill>
                <a:latin typeface="Bitter"/>
                <a:ea typeface="Bitter"/>
                <a:cs typeface="Bitter"/>
                <a:sym typeface="Bitter"/>
              </a:rPr>
              <a:t>• Catálogo web y selección de cupos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030564" y="4822031"/>
            <a:ext cx="4187352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1C2B26"/>
                </a:solidFill>
                <a:latin typeface="Bitter"/>
                <a:ea typeface="Bitter"/>
                <a:cs typeface="Bitter"/>
                <a:sym typeface="Bitter"/>
              </a:rPr>
              <a:t>• Motor transaccional y concurrencia (120s)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030564" y="5729288"/>
            <a:ext cx="4276649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1C2B26"/>
                </a:solidFill>
                <a:latin typeface="Bitter"/>
                <a:ea typeface="Bitter"/>
                <a:cs typeface="Bitter"/>
                <a:sym typeface="Bitter"/>
              </a:rPr>
              <a:t>• Anulación, reagendamiento y modal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783555" y="3040856"/>
            <a:ext cx="2631281" cy="338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1">
                <a:solidFill>
                  <a:srgbClr val="334155"/>
                </a:solidFill>
                <a:latin typeface="Bitter Bold"/>
                <a:ea typeface="Bitter Bold"/>
                <a:cs typeface="Bitter Bold"/>
                <a:sym typeface="Bitter Bold"/>
              </a:rPr>
              <a:t>PLANIFICADO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5334096" y="3076574"/>
            <a:ext cx="197167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1" dirty="0">
                <a:solidFill>
                  <a:srgbClr val="334155"/>
                </a:solidFill>
                <a:latin typeface="Bitter Bold"/>
                <a:ea typeface="Bitter Bold"/>
                <a:cs typeface="Bitter Bold"/>
                <a:sym typeface="Bitter Bold"/>
              </a:rPr>
              <a:t>Semanas 12 - 15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625235" y="3798094"/>
            <a:ext cx="5310092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334155"/>
                </a:solidFill>
                <a:latin typeface="Bitter Bold"/>
                <a:ea typeface="Bitter Bold"/>
                <a:cs typeface="Bitter Bold"/>
                <a:sym typeface="Bitter Bold"/>
              </a:rPr>
              <a:t>Sprint 4 (S12 - S13)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2625235" y="4198144"/>
            <a:ext cx="4390949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C2B26"/>
                </a:solidFill>
                <a:latin typeface="Bitter"/>
                <a:ea typeface="Bitter"/>
                <a:cs typeface="Bitter"/>
                <a:sym typeface="Bitter"/>
              </a:rPr>
              <a:t>• Integración servicio telefónico cloud (IVR)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625235" y="4826794"/>
            <a:ext cx="5310092" cy="280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C2B26"/>
                </a:solidFill>
                <a:latin typeface="Bitter"/>
                <a:ea typeface="Bitter"/>
                <a:cs typeface="Bitter"/>
                <a:sym typeface="Bitter"/>
              </a:rPr>
              <a:t>• Diálogo por voz y absorción flexible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625235" y="5241131"/>
            <a:ext cx="531009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1">
                <a:solidFill>
                  <a:srgbClr val="334155"/>
                </a:solidFill>
                <a:latin typeface="Bitter Bold"/>
                <a:ea typeface="Bitter Bold"/>
                <a:cs typeface="Bitter Bold"/>
                <a:sym typeface="Bitter Bold"/>
              </a:rPr>
              <a:t>HU-003: Selección de Horas por Voz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2625235" y="6155531"/>
            <a:ext cx="5310092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334155"/>
                </a:solidFill>
                <a:latin typeface="Bitter Bold"/>
                <a:ea typeface="Bitter Bold"/>
                <a:cs typeface="Bitter Bold"/>
                <a:sym typeface="Bitter Bold"/>
              </a:rPr>
              <a:t>Sprint 5 (S14 - S15)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2625235" y="6555581"/>
            <a:ext cx="4390949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C2B26"/>
                </a:solidFill>
                <a:latin typeface="Bitter"/>
                <a:ea typeface="Bitter"/>
                <a:cs typeface="Bitter"/>
                <a:sym typeface="Bitter"/>
              </a:rPr>
              <a:t>• Lista de espera médica y despacho SMS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2625235" y="7184231"/>
            <a:ext cx="5310092" cy="280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C2B26"/>
                </a:solidFill>
                <a:latin typeface="Bitter"/>
                <a:ea typeface="Bitter"/>
                <a:cs typeface="Bitter"/>
                <a:sym typeface="Bitter"/>
              </a:rPr>
              <a:t>• Interfaz profesional en box clínico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2625235" y="7598569"/>
            <a:ext cx="531009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1">
                <a:solidFill>
                  <a:srgbClr val="334155"/>
                </a:solidFill>
                <a:latin typeface="Bitter Bold"/>
                <a:ea typeface="Bitter Bold"/>
                <a:cs typeface="Bitter Bold"/>
                <a:sym typeface="Bitter Bold"/>
              </a:rPr>
              <a:t>HU-004 (SMS) · HU-007 (Box Clínico)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171653" y="6727031"/>
            <a:ext cx="3966917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9A3412"/>
                </a:solidFill>
                <a:latin typeface="Bitter Bold"/>
                <a:ea typeface="Bitter Bold"/>
                <a:cs typeface="Bitter Bold"/>
                <a:sym typeface="Bitter Bold"/>
              </a:rPr>
              <a:t>• HU-002: Reserva de Hora en Web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171653" y="7248525"/>
            <a:ext cx="3905174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9A3412"/>
                </a:solidFill>
                <a:latin typeface="Bitter Bold"/>
                <a:ea typeface="Bitter Bold"/>
                <a:cs typeface="Bitter Bold"/>
                <a:sym typeface="Bitter Bold"/>
              </a:rPr>
              <a:t>• HU-008: Cancelación (hasta 30m antes)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-2979624" y="5574315"/>
            <a:ext cx="9602560" cy="8374424"/>
            <a:chOff x="0" y="0"/>
            <a:chExt cx="12803413" cy="11165899"/>
          </a:xfrm>
        </p:grpSpPr>
        <p:sp>
          <p:nvSpPr>
            <p:cNvPr id="58" name="Freeform 58"/>
            <p:cNvSpPr/>
            <p:nvPr/>
          </p:nvSpPr>
          <p:spPr>
            <a:xfrm flipH="1" flipV="1">
              <a:off x="0" y="0"/>
              <a:ext cx="12803413" cy="8985668"/>
            </a:xfrm>
            <a:custGeom>
              <a:avLst/>
              <a:gdLst/>
              <a:ahLst/>
              <a:cxnLst/>
              <a:rect l="l" t="t" r="r" b="b"/>
              <a:pathLst>
                <a:path w="12803413" h="8985668">
                  <a:moveTo>
                    <a:pt x="12803413" y="8985668"/>
                  </a:moveTo>
                  <a:lnTo>
                    <a:pt x="0" y="8985668"/>
                  </a:lnTo>
                  <a:lnTo>
                    <a:pt x="0" y="0"/>
                  </a:lnTo>
                  <a:lnTo>
                    <a:pt x="12803413" y="0"/>
                  </a:lnTo>
                  <a:lnTo>
                    <a:pt x="12803413" y="8985668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59" name="Freeform 59"/>
            <p:cNvSpPr/>
            <p:nvPr/>
          </p:nvSpPr>
          <p:spPr>
            <a:xfrm rot="-8920123">
              <a:off x="1524907" y="5558768"/>
              <a:ext cx="9753600" cy="3312812"/>
            </a:xfrm>
            <a:custGeom>
              <a:avLst/>
              <a:gdLst/>
              <a:ahLst/>
              <a:cxnLst/>
              <a:rect l="l" t="t" r="r" b="b"/>
              <a:pathLst>
                <a:path w="9753600" h="3312812">
                  <a:moveTo>
                    <a:pt x="0" y="0"/>
                  </a:moveTo>
                  <a:lnTo>
                    <a:pt x="9753600" y="0"/>
                  </a:lnTo>
                  <a:lnTo>
                    <a:pt x="9753600" y="3312812"/>
                  </a:lnTo>
                  <a:lnTo>
                    <a:pt x="0" y="33128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2143246" y="1226690"/>
            <a:ext cx="14001279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 (SCRUMBAN)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-3010580" y="5590669"/>
            <a:ext cx="9602560" cy="8374424"/>
            <a:chOff x="0" y="0"/>
            <a:chExt cx="12803413" cy="11165899"/>
          </a:xfrm>
        </p:grpSpPr>
        <p:sp>
          <p:nvSpPr>
            <p:cNvPr id="62" name="Freeform 62"/>
            <p:cNvSpPr/>
            <p:nvPr/>
          </p:nvSpPr>
          <p:spPr>
            <a:xfrm flipH="1" flipV="1">
              <a:off x="0" y="0"/>
              <a:ext cx="12803413" cy="8985668"/>
            </a:xfrm>
            <a:custGeom>
              <a:avLst/>
              <a:gdLst/>
              <a:ahLst/>
              <a:cxnLst/>
              <a:rect l="l" t="t" r="r" b="b"/>
              <a:pathLst>
                <a:path w="12803413" h="8985668">
                  <a:moveTo>
                    <a:pt x="12803413" y="8985668"/>
                  </a:moveTo>
                  <a:lnTo>
                    <a:pt x="0" y="8985668"/>
                  </a:lnTo>
                  <a:lnTo>
                    <a:pt x="0" y="0"/>
                  </a:lnTo>
                  <a:lnTo>
                    <a:pt x="12803413" y="0"/>
                  </a:lnTo>
                  <a:lnTo>
                    <a:pt x="12803413" y="8985668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63" name="Freeform 63"/>
            <p:cNvSpPr/>
            <p:nvPr/>
          </p:nvSpPr>
          <p:spPr>
            <a:xfrm rot="-8920123">
              <a:off x="1524907" y="5558768"/>
              <a:ext cx="9753600" cy="3312812"/>
            </a:xfrm>
            <a:custGeom>
              <a:avLst/>
              <a:gdLst/>
              <a:ahLst/>
              <a:cxnLst/>
              <a:rect l="l" t="t" r="r" b="b"/>
              <a:pathLst>
                <a:path w="9753600" h="3312812">
                  <a:moveTo>
                    <a:pt x="0" y="0"/>
                  </a:moveTo>
                  <a:lnTo>
                    <a:pt x="9753600" y="0"/>
                  </a:lnTo>
                  <a:lnTo>
                    <a:pt x="9753600" y="3312812"/>
                  </a:lnTo>
                  <a:lnTo>
                    <a:pt x="0" y="33128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3010580" y="5590669"/>
            <a:ext cx="9602560" cy="8374424"/>
            <a:chOff x="0" y="0"/>
            <a:chExt cx="12803413" cy="11165899"/>
          </a:xfrm>
        </p:grpSpPr>
        <p:sp>
          <p:nvSpPr>
            <p:cNvPr id="5" name="Freeform 5"/>
            <p:cNvSpPr/>
            <p:nvPr/>
          </p:nvSpPr>
          <p:spPr>
            <a:xfrm flipH="1" flipV="1">
              <a:off x="0" y="0"/>
              <a:ext cx="12803413" cy="8985668"/>
            </a:xfrm>
            <a:custGeom>
              <a:avLst/>
              <a:gdLst/>
              <a:ahLst/>
              <a:cxnLst/>
              <a:rect l="l" t="t" r="r" b="b"/>
              <a:pathLst>
                <a:path w="12803413" h="8985668">
                  <a:moveTo>
                    <a:pt x="12803413" y="8985668"/>
                  </a:moveTo>
                  <a:lnTo>
                    <a:pt x="0" y="8985668"/>
                  </a:lnTo>
                  <a:lnTo>
                    <a:pt x="0" y="0"/>
                  </a:lnTo>
                  <a:lnTo>
                    <a:pt x="12803413" y="0"/>
                  </a:lnTo>
                  <a:lnTo>
                    <a:pt x="12803413" y="8985668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Freeform 6"/>
            <p:cNvSpPr/>
            <p:nvPr/>
          </p:nvSpPr>
          <p:spPr>
            <a:xfrm rot="-8920123">
              <a:off x="1524907" y="5558768"/>
              <a:ext cx="9753600" cy="3312812"/>
            </a:xfrm>
            <a:custGeom>
              <a:avLst/>
              <a:gdLst/>
              <a:ahLst/>
              <a:cxnLst/>
              <a:rect l="l" t="t" r="r" b="b"/>
              <a:pathLst>
                <a:path w="9753600" h="3312812">
                  <a:moveTo>
                    <a:pt x="0" y="0"/>
                  </a:moveTo>
                  <a:lnTo>
                    <a:pt x="9753600" y="0"/>
                  </a:lnTo>
                  <a:lnTo>
                    <a:pt x="9753600" y="3312812"/>
                  </a:lnTo>
                  <a:lnTo>
                    <a:pt x="0" y="33128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143361" y="436115"/>
            <a:ext cx="14001279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1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Video Avance</a:t>
            </a:r>
          </a:p>
        </p:txBody>
      </p:sp>
      <p:pic>
        <p:nvPicPr>
          <p:cNvPr id="8" name="Elementos multimedia en línea 7" title="Video Avance 2">
            <a:hlinkClick r:id="" action="ppaction://media"/>
            <a:extLst>
              <a:ext uri="{FF2B5EF4-FFF2-40B4-BE49-F238E27FC236}">
                <a16:creationId xmlns:a16="http://schemas.microsoft.com/office/drawing/2014/main" id="{05C9B01C-BEFE-BFD0-A2A9-DD756118802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6"/>
          <a:stretch>
            <a:fillRect/>
          </a:stretch>
        </p:blipFill>
        <p:spPr>
          <a:xfrm>
            <a:off x="1688196" y="1378140"/>
            <a:ext cx="14911607" cy="84250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821656" y="4610100"/>
            <a:ext cx="14644688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0"/>
              </a:lnSpc>
            </a:pPr>
            <a:r>
              <a:rPr lang="en-US" sz="2425">
                <a:solidFill>
                  <a:srgbClr val="1C352D"/>
                </a:solidFill>
                <a:latin typeface="Bitter"/>
                <a:ea typeface="Bitter"/>
                <a:cs typeface="Bitter"/>
                <a:sym typeface="Bitter"/>
              </a:rPr>
              <a:t>MALLASALUD une solidez en arquitectura de software con impacto humano directo para la salud pública chilena.</a:t>
            </a:r>
          </a:p>
          <a:p>
            <a:pPr algn="ctr">
              <a:lnSpc>
                <a:spcPts val="2910"/>
              </a:lnSpc>
            </a:pPr>
            <a:endParaRPr lang="en-US" sz="2425">
              <a:solidFill>
                <a:srgbClr val="1C352D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23976" y="3048000"/>
            <a:ext cx="14440049" cy="1487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10"/>
              </a:lnSpc>
            </a:pPr>
            <a:r>
              <a:rPr lang="en-US" sz="9675" b="1" dirty="0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Gracias </a:t>
            </a:r>
            <a:r>
              <a:rPr lang="en-US" sz="9675" b="1" dirty="0" err="1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por</a:t>
            </a:r>
            <a:r>
              <a:rPr lang="en-US" sz="9675" b="1" dirty="0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 </a:t>
            </a:r>
            <a:r>
              <a:rPr lang="en-US" sz="9675" b="1" dirty="0" err="1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su</a:t>
            </a:r>
            <a:r>
              <a:rPr lang="en-US" sz="9675" b="1" dirty="0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 </a:t>
            </a:r>
            <a:r>
              <a:rPr lang="en-US" sz="9675" b="1" dirty="0" err="1">
                <a:solidFill>
                  <a:srgbClr val="0D4B38"/>
                </a:solidFill>
                <a:latin typeface="Bitter Bold"/>
                <a:ea typeface="Bitter Bold"/>
                <a:cs typeface="Bitter Bold"/>
                <a:sym typeface="Bitter Bold"/>
              </a:rPr>
              <a:t>atención</a:t>
            </a:r>
            <a:endParaRPr lang="en-US" sz="9675" b="1" dirty="0">
              <a:solidFill>
                <a:srgbClr val="0D4B38"/>
              </a:solidFill>
              <a:latin typeface="Bitter Bold"/>
              <a:ea typeface="Bitter Bold"/>
              <a:cs typeface="Bitter Bold"/>
              <a:sym typeface="Bitter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821656" y="6260292"/>
            <a:ext cx="14644688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69"/>
              </a:lnSpc>
            </a:pPr>
            <a:r>
              <a:rPr lang="en-US" sz="4224">
                <a:solidFill>
                  <a:srgbClr val="1C352D"/>
                </a:solidFill>
                <a:latin typeface="Bitter"/>
                <a:ea typeface="Bitter"/>
                <a:cs typeface="Bitter"/>
                <a:sym typeface="Bitter"/>
              </a:rPr>
              <a:t>¿Preguntas o comentarios?</a:t>
            </a:r>
          </a:p>
          <a:p>
            <a:pPr algn="ctr">
              <a:lnSpc>
                <a:spcPts val="5069"/>
              </a:lnSpc>
            </a:pPr>
            <a:endParaRPr lang="en-US" sz="4224">
              <a:solidFill>
                <a:srgbClr val="1C352D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631</Words>
  <Application>Microsoft Office PowerPoint</Application>
  <PresentationFormat>Personalizado</PresentationFormat>
  <Paragraphs>98</Paragraphs>
  <Slides>8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Calibri</vt:lpstr>
      <vt:lpstr>Bitter Bold</vt:lpstr>
      <vt:lpstr>Arial</vt:lpstr>
      <vt:lpstr>Bitter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Presentacion MallaSalud Capstone.pptx</dc:title>
  <cp:lastModifiedBy>BENJAMIN NICOLAS ASCENCIO VILLARROEL</cp:lastModifiedBy>
  <cp:revision>7</cp:revision>
  <dcterms:created xsi:type="dcterms:W3CDTF">2006-08-16T00:00:00Z</dcterms:created>
  <dcterms:modified xsi:type="dcterms:W3CDTF">2026-10-19T01:12:44Z</dcterms:modified>
  <dc:identifier>DAHYVVCEEO4</dc:identifier>
</cp:coreProperties>
</file>