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bril Fatface" panose="02000503000000020003" pitchFamily="2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Canva Sans Italics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2" autoAdjust="0"/>
  </p:normalViewPr>
  <p:slideViewPr>
    <p:cSldViewPr>
      <p:cViewPr varScale="1">
        <p:scale>
          <a:sx n="33" d="100"/>
          <a:sy n="33" d="100"/>
        </p:scale>
        <p:origin x="48" y="5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2816" y="-785871"/>
            <a:ext cx="21033631" cy="12189120"/>
            <a:chOff x="0" y="0"/>
            <a:chExt cx="28044842" cy="16252159"/>
          </a:xfrm>
        </p:grpSpPr>
        <p:grpSp>
          <p:nvGrpSpPr>
            <p:cNvPr id="3" name="Group 3"/>
            <p:cNvGrpSpPr/>
            <p:nvPr/>
          </p:nvGrpSpPr>
          <p:grpSpPr>
            <a:xfrm>
              <a:off x="23930042" y="0"/>
              <a:ext cx="4114800" cy="4114800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12137359"/>
              <a:ext cx="4114800" cy="411480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496766" y="11737256"/>
              <a:ext cx="1410511" cy="141051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2667000" y="2634601"/>
            <a:ext cx="12344399" cy="24086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050"/>
              </a:lnSpc>
            </a:pPr>
            <a:r>
              <a:rPr lang="en-US" sz="14321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MALLASALUD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50850" y="8679815"/>
            <a:ext cx="9186299" cy="538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Pablo Carrasco           Benjamín Ascencio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845350" y="5251539"/>
            <a:ext cx="10597301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Sistema integral y omnicanal para la gestión, distribución y reserva de horas médicas en CESFAM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0" y="7983900"/>
            <a:ext cx="3321520" cy="537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7335">
            <a:off x="17129835" y="179925"/>
            <a:ext cx="978240" cy="978240"/>
          </a:xfrm>
          <a:custGeom>
            <a:avLst/>
            <a:gdLst/>
            <a:ahLst/>
            <a:cxnLst/>
            <a:rect l="l" t="t" r="r" b="b"/>
            <a:pathLst>
              <a:path w="978240" h="978240">
                <a:moveTo>
                  <a:pt x="0" y="0"/>
                </a:moveTo>
                <a:lnTo>
                  <a:pt x="978240" y="0"/>
                </a:lnTo>
                <a:lnTo>
                  <a:pt x="978240" y="978240"/>
                </a:lnTo>
                <a:lnTo>
                  <a:pt x="0" y="978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711343">
            <a:off x="174192" y="9134568"/>
            <a:ext cx="978240" cy="978240"/>
          </a:xfrm>
          <a:custGeom>
            <a:avLst/>
            <a:gdLst/>
            <a:ahLst/>
            <a:cxnLst/>
            <a:rect l="l" t="t" r="r" b="b"/>
            <a:pathLst>
              <a:path w="978240" h="978240">
                <a:moveTo>
                  <a:pt x="0" y="0"/>
                </a:moveTo>
                <a:lnTo>
                  <a:pt x="978240" y="0"/>
                </a:lnTo>
                <a:lnTo>
                  <a:pt x="978240" y="978240"/>
                </a:lnTo>
                <a:lnTo>
                  <a:pt x="0" y="978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6079275" y="8414512"/>
            <a:ext cx="3025746" cy="30257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817020" y="-1153257"/>
            <a:ext cx="3025746" cy="30257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4095" y="884873"/>
            <a:ext cx="1037194" cy="103719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39864" y="3312387"/>
            <a:ext cx="8323141" cy="4722675"/>
            <a:chOff x="0" y="0"/>
            <a:chExt cx="2192103" cy="12438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2103" cy="1243832"/>
            </a:xfrm>
            <a:custGeom>
              <a:avLst/>
              <a:gdLst/>
              <a:ahLst/>
              <a:cxnLst/>
              <a:rect l="l" t="t" r="r" b="b"/>
              <a:pathLst>
                <a:path w="2192103" h="1243832">
                  <a:moveTo>
                    <a:pt x="37207" y="0"/>
                  </a:moveTo>
                  <a:lnTo>
                    <a:pt x="2154896" y="0"/>
                  </a:lnTo>
                  <a:cubicBezTo>
                    <a:pt x="2164764" y="0"/>
                    <a:pt x="2174228" y="3920"/>
                    <a:pt x="2181205" y="10898"/>
                  </a:cubicBezTo>
                  <a:cubicBezTo>
                    <a:pt x="2188183" y="17875"/>
                    <a:pt x="2192103" y="27339"/>
                    <a:pt x="2192103" y="37207"/>
                  </a:cubicBezTo>
                  <a:lnTo>
                    <a:pt x="2192103" y="1206625"/>
                  </a:lnTo>
                  <a:cubicBezTo>
                    <a:pt x="2192103" y="1216493"/>
                    <a:pt x="2188183" y="1225957"/>
                    <a:pt x="2181205" y="1232935"/>
                  </a:cubicBezTo>
                  <a:cubicBezTo>
                    <a:pt x="2174228" y="1239912"/>
                    <a:pt x="2164764" y="1243832"/>
                    <a:pt x="2154896" y="1243832"/>
                  </a:cubicBezTo>
                  <a:lnTo>
                    <a:pt x="37207" y="1243832"/>
                  </a:lnTo>
                  <a:cubicBezTo>
                    <a:pt x="16658" y="1243832"/>
                    <a:pt x="0" y="1227174"/>
                    <a:pt x="0" y="1206625"/>
                  </a:cubicBezTo>
                  <a:lnTo>
                    <a:pt x="0" y="37207"/>
                  </a:lnTo>
                  <a:cubicBezTo>
                    <a:pt x="0" y="27339"/>
                    <a:pt x="3920" y="17875"/>
                    <a:pt x="10898" y="10898"/>
                  </a:cubicBezTo>
                  <a:cubicBezTo>
                    <a:pt x="17875" y="3920"/>
                    <a:pt x="27339" y="0"/>
                    <a:pt x="37207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192103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174957" y="3480376"/>
            <a:ext cx="8052954" cy="433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Brecha en Adultos Mayores</a:t>
            </a:r>
          </a:p>
          <a:p>
            <a:pPr algn="l">
              <a:lnSpc>
                <a:spcPts val="307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Barrera tecnológica: Dificultad de uso con apps móviles complejas.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Canales fragmentados: Soluciones digitales que no integran la vía telefónica.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Desigualdad de acceso: Pérdida de cupos prioritarios por falta de herramientas.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52212" y="933491"/>
            <a:ext cx="5583575" cy="117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Problemática</a:t>
            </a:r>
            <a:endParaRPr lang="en-US" sz="6999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924995" y="3312387"/>
            <a:ext cx="8000709" cy="4722686"/>
            <a:chOff x="0" y="0"/>
            <a:chExt cx="2107184" cy="1243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07184" cy="1243838"/>
            </a:xfrm>
            <a:custGeom>
              <a:avLst/>
              <a:gdLst/>
              <a:ahLst/>
              <a:cxnLst/>
              <a:rect l="l" t="t" r="r" b="b"/>
              <a:pathLst>
                <a:path w="2107184" h="1243838">
                  <a:moveTo>
                    <a:pt x="2107184" y="38706"/>
                  </a:moveTo>
                  <a:lnTo>
                    <a:pt x="2107184" y="1205132"/>
                  </a:lnTo>
                  <a:cubicBezTo>
                    <a:pt x="2107184" y="1226509"/>
                    <a:pt x="2089855" y="1243838"/>
                    <a:pt x="2068478" y="1243838"/>
                  </a:cubicBezTo>
                  <a:lnTo>
                    <a:pt x="38706" y="1243838"/>
                  </a:lnTo>
                  <a:cubicBezTo>
                    <a:pt x="17329" y="1243838"/>
                    <a:pt x="0" y="1226509"/>
                    <a:pt x="0" y="1205132"/>
                  </a:cubicBezTo>
                  <a:lnTo>
                    <a:pt x="0" y="38706"/>
                  </a:lnTo>
                  <a:cubicBezTo>
                    <a:pt x="0" y="17329"/>
                    <a:pt x="17329" y="0"/>
                    <a:pt x="38706" y="0"/>
                  </a:cubicBezTo>
                  <a:lnTo>
                    <a:pt x="2068478" y="0"/>
                  </a:lnTo>
                  <a:cubicBezTo>
                    <a:pt x="2089855" y="0"/>
                    <a:pt x="2107184" y="17329"/>
                    <a:pt x="2107184" y="38706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107184" cy="1281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3237" y="3470851"/>
            <a:ext cx="7424256" cy="4190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Saturación en Madrugadas</a:t>
            </a:r>
          </a:p>
          <a:p>
            <a:pPr algn="l">
              <a:lnSpc>
                <a:spcPts val="3080"/>
              </a:lnSpc>
            </a:pPr>
            <a:endParaRPr lang="en-US" sz="2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Filas excesivas: Cientos de pacientes acuden de madrugada a los CESFAM.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Exposición física: Pacientes vulnerables sometidos al frío y la incertidumbre.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96" lvl="1" indent="-237498" algn="l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Cupos limitados: Agotamiento inmediato de atenciones sin reserva garantizada.</a:t>
            </a:r>
          </a:p>
          <a:p>
            <a:pPr algn="l">
              <a:lnSpc>
                <a:spcPts val="1820"/>
              </a:lnSpc>
            </a:pPr>
            <a:endParaRPr lang="en-US" sz="2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17335">
            <a:off x="17129835" y="179925"/>
            <a:ext cx="978240" cy="978240"/>
          </a:xfrm>
          <a:custGeom>
            <a:avLst/>
            <a:gdLst/>
            <a:ahLst/>
            <a:cxnLst/>
            <a:rect l="l" t="t" r="r" b="b"/>
            <a:pathLst>
              <a:path w="978240" h="978240">
                <a:moveTo>
                  <a:pt x="0" y="0"/>
                </a:moveTo>
                <a:lnTo>
                  <a:pt x="978240" y="0"/>
                </a:lnTo>
                <a:lnTo>
                  <a:pt x="978240" y="978240"/>
                </a:lnTo>
                <a:lnTo>
                  <a:pt x="0" y="978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1711343">
            <a:off x="174192" y="9134568"/>
            <a:ext cx="978240" cy="978240"/>
          </a:xfrm>
          <a:custGeom>
            <a:avLst/>
            <a:gdLst/>
            <a:ahLst/>
            <a:cxnLst/>
            <a:rect l="l" t="t" r="r" b="b"/>
            <a:pathLst>
              <a:path w="978240" h="978240">
                <a:moveTo>
                  <a:pt x="0" y="0"/>
                </a:moveTo>
                <a:lnTo>
                  <a:pt x="978240" y="0"/>
                </a:lnTo>
                <a:lnTo>
                  <a:pt x="978240" y="978240"/>
                </a:lnTo>
                <a:lnTo>
                  <a:pt x="0" y="978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6079275" y="8414512"/>
            <a:ext cx="3025746" cy="30257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817020" y="-1153257"/>
            <a:ext cx="3025746" cy="30257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4095" y="884873"/>
            <a:ext cx="1037194" cy="103719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72692" y="2577589"/>
            <a:ext cx="9239113" cy="2194436"/>
            <a:chOff x="0" y="0"/>
            <a:chExt cx="3989546" cy="9475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89546" cy="947580"/>
            </a:xfrm>
            <a:custGeom>
              <a:avLst/>
              <a:gdLst/>
              <a:ahLst/>
              <a:cxnLst/>
              <a:rect l="l" t="t" r="r" b="b"/>
              <a:pathLst>
                <a:path w="3989546" h="947580">
                  <a:moveTo>
                    <a:pt x="33518" y="0"/>
                  </a:moveTo>
                  <a:lnTo>
                    <a:pt x="3956028" y="0"/>
                  </a:lnTo>
                  <a:cubicBezTo>
                    <a:pt x="3964918" y="0"/>
                    <a:pt x="3973443" y="3531"/>
                    <a:pt x="3979729" y="9817"/>
                  </a:cubicBezTo>
                  <a:cubicBezTo>
                    <a:pt x="3986015" y="16103"/>
                    <a:pt x="3989546" y="24628"/>
                    <a:pt x="3989546" y="33518"/>
                  </a:cubicBezTo>
                  <a:lnTo>
                    <a:pt x="3989546" y="914062"/>
                  </a:lnTo>
                  <a:cubicBezTo>
                    <a:pt x="3989546" y="932574"/>
                    <a:pt x="3974540" y="947580"/>
                    <a:pt x="3956028" y="947580"/>
                  </a:cubicBezTo>
                  <a:lnTo>
                    <a:pt x="33518" y="947580"/>
                  </a:lnTo>
                  <a:cubicBezTo>
                    <a:pt x="24628" y="947580"/>
                    <a:pt x="16103" y="944049"/>
                    <a:pt x="9817" y="937763"/>
                  </a:cubicBezTo>
                  <a:cubicBezTo>
                    <a:pt x="3531" y="931477"/>
                    <a:pt x="0" y="922952"/>
                    <a:pt x="0" y="914062"/>
                  </a:cubicBezTo>
                  <a:lnTo>
                    <a:pt x="0" y="33518"/>
                  </a:lnTo>
                  <a:cubicBezTo>
                    <a:pt x="0" y="24628"/>
                    <a:pt x="3531" y="16103"/>
                    <a:pt x="9817" y="9817"/>
                  </a:cubicBezTo>
                  <a:cubicBezTo>
                    <a:pt x="16103" y="3531"/>
                    <a:pt x="24628" y="0"/>
                    <a:pt x="33518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989546" cy="10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1573804" y="2575453"/>
            <a:ext cx="4445970" cy="6864784"/>
          </a:xfrm>
          <a:custGeom>
            <a:avLst/>
            <a:gdLst/>
            <a:ahLst/>
            <a:cxnLst/>
            <a:rect l="l" t="t" r="r" b="b"/>
            <a:pathLst>
              <a:path w="4445970" h="6864784">
                <a:moveTo>
                  <a:pt x="0" y="0"/>
                </a:moveTo>
                <a:lnTo>
                  <a:pt x="4445970" y="0"/>
                </a:lnTo>
                <a:lnTo>
                  <a:pt x="4445970" y="6864784"/>
                </a:lnTo>
                <a:lnTo>
                  <a:pt x="0" y="6864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989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6352213" y="904875"/>
            <a:ext cx="5583575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Solución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91289" y="2695002"/>
            <a:ext cx="8175849" cy="191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Portal Web de Autogestión</a:t>
            </a:r>
          </a:p>
          <a:p>
            <a:pPr algn="l">
              <a:lnSpc>
                <a:spcPts val="252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Reserva rápida con validación de RUT y reglas de negocio en tiempo real.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1572692" y="4910627"/>
            <a:ext cx="9239113" cy="2194436"/>
            <a:chOff x="0" y="0"/>
            <a:chExt cx="3989546" cy="94758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89546" cy="947580"/>
            </a:xfrm>
            <a:custGeom>
              <a:avLst/>
              <a:gdLst/>
              <a:ahLst/>
              <a:cxnLst/>
              <a:rect l="l" t="t" r="r" b="b"/>
              <a:pathLst>
                <a:path w="3989546" h="947580">
                  <a:moveTo>
                    <a:pt x="33518" y="0"/>
                  </a:moveTo>
                  <a:lnTo>
                    <a:pt x="3956028" y="0"/>
                  </a:lnTo>
                  <a:cubicBezTo>
                    <a:pt x="3964918" y="0"/>
                    <a:pt x="3973443" y="3531"/>
                    <a:pt x="3979729" y="9817"/>
                  </a:cubicBezTo>
                  <a:cubicBezTo>
                    <a:pt x="3986015" y="16103"/>
                    <a:pt x="3989546" y="24628"/>
                    <a:pt x="3989546" y="33518"/>
                  </a:cubicBezTo>
                  <a:lnTo>
                    <a:pt x="3989546" y="914062"/>
                  </a:lnTo>
                  <a:cubicBezTo>
                    <a:pt x="3989546" y="932574"/>
                    <a:pt x="3974540" y="947580"/>
                    <a:pt x="3956028" y="947580"/>
                  </a:cubicBezTo>
                  <a:lnTo>
                    <a:pt x="33518" y="947580"/>
                  </a:lnTo>
                  <a:cubicBezTo>
                    <a:pt x="24628" y="947580"/>
                    <a:pt x="16103" y="944049"/>
                    <a:pt x="9817" y="937763"/>
                  </a:cubicBezTo>
                  <a:cubicBezTo>
                    <a:pt x="3531" y="931477"/>
                    <a:pt x="0" y="922952"/>
                    <a:pt x="0" y="914062"/>
                  </a:cubicBezTo>
                  <a:lnTo>
                    <a:pt x="0" y="33518"/>
                  </a:lnTo>
                  <a:cubicBezTo>
                    <a:pt x="0" y="24628"/>
                    <a:pt x="3531" y="16103"/>
                    <a:pt x="9817" y="9817"/>
                  </a:cubicBezTo>
                  <a:cubicBezTo>
                    <a:pt x="16103" y="3531"/>
                    <a:pt x="24628" y="0"/>
                    <a:pt x="33518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3989546" cy="10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225322" y="5161390"/>
            <a:ext cx="8175849" cy="166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Asistente</a:t>
            </a: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Voz </a:t>
            </a: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Inclusivo</a:t>
            </a: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Atención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telefónica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automatizada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para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adultos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mayores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sin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acceso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internet.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572692" y="7247938"/>
            <a:ext cx="9239113" cy="2194436"/>
            <a:chOff x="0" y="0"/>
            <a:chExt cx="3989546" cy="9475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89546" cy="947580"/>
            </a:xfrm>
            <a:custGeom>
              <a:avLst/>
              <a:gdLst/>
              <a:ahLst/>
              <a:cxnLst/>
              <a:rect l="l" t="t" r="r" b="b"/>
              <a:pathLst>
                <a:path w="3989546" h="947580">
                  <a:moveTo>
                    <a:pt x="33518" y="0"/>
                  </a:moveTo>
                  <a:lnTo>
                    <a:pt x="3956028" y="0"/>
                  </a:lnTo>
                  <a:cubicBezTo>
                    <a:pt x="3964918" y="0"/>
                    <a:pt x="3973443" y="3531"/>
                    <a:pt x="3979729" y="9817"/>
                  </a:cubicBezTo>
                  <a:cubicBezTo>
                    <a:pt x="3986015" y="16103"/>
                    <a:pt x="3989546" y="24628"/>
                    <a:pt x="3989546" y="33518"/>
                  </a:cubicBezTo>
                  <a:lnTo>
                    <a:pt x="3989546" y="914062"/>
                  </a:lnTo>
                  <a:cubicBezTo>
                    <a:pt x="3989546" y="932574"/>
                    <a:pt x="3974540" y="947580"/>
                    <a:pt x="3956028" y="947580"/>
                  </a:cubicBezTo>
                  <a:lnTo>
                    <a:pt x="33518" y="947580"/>
                  </a:lnTo>
                  <a:cubicBezTo>
                    <a:pt x="24628" y="947580"/>
                    <a:pt x="16103" y="944049"/>
                    <a:pt x="9817" y="937763"/>
                  </a:cubicBezTo>
                  <a:cubicBezTo>
                    <a:pt x="3531" y="931477"/>
                    <a:pt x="0" y="922952"/>
                    <a:pt x="0" y="914062"/>
                  </a:cubicBezTo>
                  <a:lnTo>
                    <a:pt x="0" y="33518"/>
                  </a:lnTo>
                  <a:cubicBezTo>
                    <a:pt x="0" y="24628"/>
                    <a:pt x="3531" y="16103"/>
                    <a:pt x="9817" y="9817"/>
                  </a:cubicBezTo>
                  <a:cubicBezTo>
                    <a:pt x="16103" y="3531"/>
                    <a:pt x="24628" y="0"/>
                    <a:pt x="33518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989546" cy="1004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091289" y="7476517"/>
            <a:ext cx="8175849" cy="164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Gestión SOME y Ventanilla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centralizado de cuotas protegidas y sincronización instantánea.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90330" y="2896877"/>
            <a:ext cx="4975319" cy="6078136"/>
            <a:chOff x="0" y="0"/>
            <a:chExt cx="665769" cy="8133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5769" cy="813341"/>
            </a:xfrm>
            <a:custGeom>
              <a:avLst/>
              <a:gdLst/>
              <a:ahLst/>
              <a:cxnLst/>
              <a:rect l="l" t="t" r="r" b="b"/>
              <a:pathLst>
                <a:path w="665769" h="813341">
                  <a:moveTo>
                    <a:pt x="107368" y="0"/>
                  </a:moveTo>
                  <a:lnTo>
                    <a:pt x="558400" y="0"/>
                  </a:lnTo>
                  <a:cubicBezTo>
                    <a:pt x="586876" y="0"/>
                    <a:pt x="614186" y="11312"/>
                    <a:pt x="634321" y="31448"/>
                  </a:cubicBezTo>
                  <a:cubicBezTo>
                    <a:pt x="654457" y="51583"/>
                    <a:pt x="665769" y="78893"/>
                    <a:pt x="665769" y="107368"/>
                  </a:cubicBezTo>
                  <a:lnTo>
                    <a:pt x="665769" y="705973"/>
                  </a:lnTo>
                  <a:cubicBezTo>
                    <a:pt x="665769" y="734449"/>
                    <a:pt x="654457" y="761758"/>
                    <a:pt x="634321" y="781894"/>
                  </a:cubicBezTo>
                  <a:cubicBezTo>
                    <a:pt x="614186" y="802029"/>
                    <a:pt x="586876" y="813341"/>
                    <a:pt x="558400" y="813341"/>
                  </a:cubicBezTo>
                  <a:lnTo>
                    <a:pt x="107368" y="813341"/>
                  </a:lnTo>
                  <a:cubicBezTo>
                    <a:pt x="78893" y="813341"/>
                    <a:pt x="51583" y="802029"/>
                    <a:pt x="31448" y="781894"/>
                  </a:cubicBezTo>
                  <a:cubicBezTo>
                    <a:pt x="11312" y="761758"/>
                    <a:pt x="0" y="734449"/>
                    <a:pt x="0" y="705973"/>
                  </a:cubicBezTo>
                  <a:lnTo>
                    <a:pt x="0" y="107368"/>
                  </a:lnTo>
                  <a:cubicBezTo>
                    <a:pt x="0" y="78893"/>
                    <a:pt x="11312" y="51583"/>
                    <a:pt x="31448" y="31448"/>
                  </a:cubicBezTo>
                  <a:cubicBezTo>
                    <a:pt x="51583" y="11312"/>
                    <a:pt x="78893" y="0"/>
                    <a:pt x="107368" y="0"/>
                  </a:cubicBezTo>
                  <a:close/>
                </a:path>
              </a:pathLst>
            </a:custGeom>
            <a:blipFill>
              <a:blip r:embed="rId2"/>
              <a:stretch>
                <a:fillRect l="-41681" r="-4168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rot="-1922563">
            <a:off x="278296" y="331206"/>
            <a:ext cx="788981" cy="788981"/>
          </a:xfrm>
          <a:custGeom>
            <a:avLst/>
            <a:gdLst/>
            <a:ahLst/>
            <a:cxnLst/>
            <a:rect l="l" t="t" r="r" b="b"/>
            <a:pathLst>
              <a:path w="788981" h="788981">
                <a:moveTo>
                  <a:pt x="0" y="0"/>
                </a:moveTo>
                <a:lnTo>
                  <a:pt x="788981" y="0"/>
                </a:lnTo>
                <a:lnTo>
                  <a:pt x="788981" y="788982"/>
                </a:lnTo>
                <a:lnTo>
                  <a:pt x="0" y="788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rot="1134723">
            <a:off x="563453" y="9306543"/>
            <a:ext cx="816887" cy="816887"/>
          </a:xfrm>
          <a:custGeom>
            <a:avLst/>
            <a:gdLst/>
            <a:ahLst/>
            <a:cxnLst/>
            <a:rect l="l" t="t" r="r" b="b"/>
            <a:pathLst>
              <a:path w="816887" h="816887">
                <a:moveTo>
                  <a:pt x="0" y="0"/>
                </a:moveTo>
                <a:lnTo>
                  <a:pt x="816887" y="0"/>
                </a:lnTo>
                <a:lnTo>
                  <a:pt x="816887" y="816887"/>
                </a:lnTo>
                <a:lnTo>
                  <a:pt x="0" y="816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4159327" y="677247"/>
            <a:ext cx="9969345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Intereses Profesionales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962481" y="-1008887"/>
            <a:ext cx="3025746" cy="30257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2619" y="2896877"/>
            <a:ext cx="9969345" cy="2928470"/>
            <a:chOff x="0" y="0"/>
            <a:chExt cx="3384845" cy="9942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84845" cy="994290"/>
            </a:xfrm>
            <a:custGeom>
              <a:avLst/>
              <a:gdLst/>
              <a:ahLst/>
              <a:cxnLst/>
              <a:rect l="l" t="t" r="r" b="b"/>
              <a:pathLst>
                <a:path w="3384845" h="994290">
                  <a:moveTo>
                    <a:pt x="31063" y="0"/>
                  </a:moveTo>
                  <a:lnTo>
                    <a:pt x="3353782" y="0"/>
                  </a:lnTo>
                  <a:cubicBezTo>
                    <a:pt x="3370938" y="0"/>
                    <a:pt x="3384845" y="13907"/>
                    <a:pt x="3384845" y="31063"/>
                  </a:cubicBezTo>
                  <a:lnTo>
                    <a:pt x="3384845" y="963227"/>
                  </a:lnTo>
                  <a:cubicBezTo>
                    <a:pt x="3384845" y="980383"/>
                    <a:pt x="3370938" y="994290"/>
                    <a:pt x="3353782" y="994290"/>
                  </a:cubicBezTo>
                  <a:lnTo>
                    <a:pt x="31063" y="994290"/>
                  </a:lnTo>
                  <a:cubicBezTo>
                    <a:pt x="13907" y="994290"/>
                    <a:pt x="0" y="980383"/>
                    <a:pt x="0" y="963227"/>
                  </a:cubicBezTo>
                  <a:lnTo>
                    <a:pt x="0" y="31063"/>
                  </a:lnTo>
                  <a:cubicBezTo>
                    <a:pt x="0" y="13907"/>
                    <a:pt x="13907" y="0"/>
                    <a:pt x="31063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384845" cy="1032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1896" y="3090726"/>
            <a:ext cx="9464350" cy="252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Benjamín Ascencio</a:t>
            </a:r>
          </a:p>
          <a:p>
            <a:pPr algn="l">
              <a:lnSpc>
                <a:spcPts val="280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Enfoque: Persistencia, modelado relacional y documentación técnica.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Nuevo Desafío: PostgreSQL + Prisma ORM para alta concurrencia.</a:t>
            </a:r>
          </a:p>
          <a:p>
            <a:pPr marL="474979" lvl="1" indent="-237490" algn="just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Crecimiento: Habilidades comunicativas y trabajo colaborativo.</a:t>
            </a:r>
          </a:p>
          <a:p>
            <a:pPr algn="l">
              <a:lnSpc>
                <a:spcPts val="1411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02619" y="6046543"/>
            <a:ext cx="9969345" cy="2928470"/>
            <a:chOff x="0" y="0"/>
            <a:chExt cx="3384845" cy="9942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84845" cy="994290"/>
            </a:xfrm>
            <a:custGeom>
              <a:avLst/>
              <a:gdLst/>
              <a:ahLst/>
              <a:cxnLst/>
              <a:rect l="l" t="t" r="r" b="b"/>
              <a:pathLst>
                <a:path w="3384845" h="994290">
                  <a:moveTo>
                    <a:pt x="31063" y="0"/>
                  </a:moveTo>
                  <a:lnTo>
                    <a:pt x="3353782" y="0"/>
                  </a:lnTo>
                  <a:cubicBezTo>
                    <a:pt x="3370938" y="0"/>
                    <a:pt x="3384845" y="13907"/>
                    <a:pt x="3384845" y="31063"/>
                  </a:cubicBezTo>
                  <a:lnTo>
                    <a:pt x="3384845" y="963227"/>
                  </a:lnTo>
                  <a:cubicBezTo>
                    <a:pt x="3384845" y="980383"/>
                    <a:pt x="3370938" y="994290"/>
                    <a:pt x="3353782" y="994290"/>
                  </a:cubicBezTo>
                  <a:lnTo>
                    <a:pt x="31063" y="994290"/>
                  </a:lnTo>
                  <a:cubicBezTo>
                    <a:pt x="13907" y="994290"/>
                    <a:pt x="0" y="980383"/>
                    <a:pt x="0" y="963227"/>
                  </a:cubicBezTo>
                  <a:lnTo>
                    <a:pt x="0" y="31063"/>
                  </a:lnTo>
                  <a:cubicBezTo>
                    <a:pt x="0" y="13907"/>
                    <a:pt x="13907" y="0"/>
                    <a:pt x="31063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3384845" cy="1032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53376" y="6204319"/>
            <a:ext cx="9382871" cy="256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Pablo Carrasco</a:t>
            </a:r>
          </a:p>
          <a:p>
            <a:pPr algn="l">
              <a:lnSpc>
                <a:spcPts val="307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Enfoque: Interfaz reactiva, accesibilidad y experiencia de usuario.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Nuevo Desafío: Next.js, React y Tailwind CSS bajo estándares profesionales.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Crecimiento: Gestión de riesgos de software y diseño inclusivo.</a:t>
            </a:r>
          </a:p>
          <a:p>
            <a:pPr algn="l">
              <a:lnSpc>
                <a:spcPts val="1411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8394" y="0"/>
            <a:ext cx="778063" cy="778063"/>
          </a:xfrm>
          <a:custGeom>
            <a:avLst/>
            <a:gdLst/>
            <a:ahLst/>
            <a:cxnLst/>
            <a:rect l="l" t="t" r="r" b="b"/>
            <a:pathLst>
              <a:path w="778063" h="778063">
                <a:moveTo>
                  <a:pt x="0" y="0"/>
                </a:moveTo>
                <a:lnTo>
                  <a:pt x="778063" y="0"/>
                </a:lnTo>
                <a:lnTo>
                  <a:pt x="778063" y="778063"/>
                </a:lnTo>
                <a:lnTo>
                  <a:pt x="0" y="778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728547" y="904875"/>
            <a:ext cx="8830906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Objetivos</a:t>
            </a:r>
            <a:r>
              <a:rPr lang="en-US" sz="69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 </a:t>
            </a: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Específicos</a:t>
            </a:r>
            <a:endParaRPr lang="en-US" sz="6999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079275" y="8414512"/>
            <a:ext cx="3025746" cy="30257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46111" y="2998542"/>
            <a:ext cx="6608718" cy="2951629"/>
            <a:chOff x="0" y="0"/>
            <a:chExt cx="2784949" cy="12438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03939" y="3249381"/>
            <a:ext cx="5493063" cy="2404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Módulo SOME</a:t>
            </a:r>
          </a:p>
          <a:p>
            <a:pPr algn="ctr">
              <a:lnSpc>
                <a:spcPts val="3325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Carga y parametrización de agendas en Medicina, Dental y Matronería con cuotas protegidas.</a:t>
            </a:r>
          </a:p>
          <a:p>
            <a:pPr algn="ctr">
              <a:lnSpc>
                <a:spcPts val="1925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1137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233171" y="2998542"/>
            <a:ext cx="6608718" cy="2951629"/>
            <a:chOff x="0" y="0"/>
            <a:chExt cx="2784949" cy="12438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75113" y="3246901"/>
            <a:ext cx="5324835" cy="240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Portal Paciente</a:t>
            </a:r>
          </a:p>
          <a:p>
            <a:pPr algn="ctr">
              <a:lnSpc>
                <a:spcPts val="3325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Validación de identidad por RUT, control de citas simultáneas y reagendamiento seguro.</a:t>
            </a:r>
          </a:p>
          <a:p>
            <a:pPr algn="ctr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2446111" y="6110408"/>
            <a:ext cx="6608718" cy="2951629"/>
            <a:chOff x="0" y="0"/>
            <a:chExt cx="2784949" cy="12438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279144" y="6358767"/>
            <a:ext cx="4942653" cy="203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</a:t>
            </a: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Asistente</a:t>
            </a: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Voz</a:t>
            </a:r>
          </a:p>
          <a:p>
            <a:pPr algn="ctr">
              <a:lnSpc>
                <a:spcPts val="3325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079"/>
              </a:lnSpc>
            </a:pPr>
            <a:r>
              <a:rPr lang="es-MX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Línea telefónica automática para que los Pacientes consulten el sistema central sin complicaciones.</a:t>
            </a:r>
            <a:endParaRPr lang="en-US" sz="21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233171" y="6110408"/>
            <a:ext cx="6608718" cy="2951629"/>
            <a:chOff x="0" y="0"/>
            <a:chExt cx="2784949" cy="124383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026393" y="6358767"/>
            <a:ext cx="5022274" cy="240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Panel en Box</a:t>
            </a:r>
          </a:p>
          <a:p>
            <a:pPr algn="ctr">
              <a:lnSpc>
                <a:spcPts val="3325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 de asistencia clínica en tiempo real y liberación inmediata de cupos no utilizados.</a:t>
            </a:r>
          </a:p>
          <a:p>
            <a:pPr algn="ctr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09080" y="904875"/>
            <a:ext cx="9469841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Alcance</a:t>
            </a:r>
            <a:r>
              <a:rPr lang="en-US" sz="69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 del Proyecto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75127" y="-1014398"/>
            <a:ext cx="3025746" cy="302574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99106" y="3328312"/>
            <a:ext cx="8163899" cy="4722675"/>
            <a:chOff x="0" y="0"/>
            <a:chExt cx="2150163" cy="12438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50163" cy="1243832"/>
            </a:xfrm>
            <a:custGeom>
              <a:avLst/>
              <a:gdLst/>
              <a:ahLst/>
              <a:cxnLst/>
              <a:rect l="l" t="t" r="r" b="b"/>
              <a:pathLst>
                <a:path w="2150163" h="1243832">
                  <a:moveTo>
                    <a:pt x="37932" y="0"/>
                  </a:moveTo>
                  <a:lnTo>
                    <a:pt x="2112230" y="0"/>
                  </a:lnTo>
                  <a:cubicBezTo>
                    <a:pt x="2133180" y="0"/>
                    <a:pt x="2150163" y="16983"/>
                    <a:pt x="2150163" y="37932"/>
                  </a:cubicBezTo>
                  <a:lnTo>
                    <a:pt x="2150163" y="1205900"/>
                  </a:lnTo>
                  <a:cubicBezTo>
                    <a:pt x="2150163" y="1215960"/>
                    <a:pt x="2146166" y="1225608"/>
                    <a:pt x="2139053" y="1232722"/>
                  </a:cubicBezTo>
                  <a:cubicBezTo>
                    <a:pt x="2131939" y="1239836"/>
                    <a:pt x="2122291" y="1243832"/>
                    <a:pt x="2112230" y="1243832"/>
                  </a:cubicBezTo>
                  <a:lnTo>
                    <a:pt x="37932" y="1243832"/>
                  </a:lnTo>
                  <a:cubicBezTo>
                    <a:pt x="16983" y="1243832"/>
                    <a:pt x="0" y="1226849"/>
                    <a:pt x="0" y="1205900"/>
                  </a:cubicBezTo>
                  <a:lnTo>
                    <a:pt x="0" y="37932"/>
                  </a:lnTo>
                  <a:cubicBezTo>
                    <a:pt x="0" y="16983"/>
                    <a:pt x="16983" y="0"/>
                    <a:pt x="37932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50163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461594" y="4040237"/>
            <a:ext cx="7638924" cy="325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Fuera de Alcance</a:t>
            </a:r>
          </a:p>
          <a:p>
            <a:pPr algn="l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Integración con ficha clínica externa (EHR).</a:t>
            </a:r>
          </a:p>
          <a:p>
            <a:pPr algn="l">
              <a:lnSpc>
                <a:spcPts val="3079"/>
              </a:lnSpc>
            </a:pPr>
            <a:endParaRPr lang="en-US" sz="21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Módulos de farmacia y dispensación.</a:t>
            </a:r>
          </a:p>
          <a:p>
            <a:pPr algn="l">
              <a:lnSpc>
                <a:spcPts val="3079"/>
              </a:lnSpc>
            </a:pPr>
            <a:endParaRPr lang="en-US" sz="21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Reasignación compleja de interconsultas.</a:t>
            </a:r>
          </a:p>
          <a:p>
            <a:pPr algn="l">
              <a:lnSpc>
                <a:spcPts val="3499"/>
              </a:lnSpc>
            </a:pPr>
            <a:endParaRPr lang="en-US" sz="21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924995" y="3328312"/>
            <a:ext cx="7745921" cy="4722675"/>
            <a:chOff x="0" y="0"/>
            <a:chExt cx="2040078" cy="12438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40078" cy="1243832"/>
            </a:xfrm>
            <a:custGeom>
              <a:avLst/>
              <a:gdLst/>
              <a:ahLst/>
              <a:cxnLst/>
              <a:rect l="l" t="t" r="r" b="b"/>
              <a:pathLst>
                <a:path w="2040078" h="1243832">
                  <a:moveTo>
                    <a:pt x="39979" y="0"/>
                  </a:moveTo>
                  <a:lnTo>
                    <a:pt x="2000098" y="0"/>
                  </a:lnTo>
                  <a:cubicBezTo>
                    <a:pt x="2022179" y="0"/>
                    <a:pt x="2040078" y="17899"/>
                    <a:pt x="2040078" y="39979"/>
                  </a:cubicBezTo>
                  <a:lnTo>
                    <a:pt x="2040078" y="1203853"/>
                  </a:lnTo>
                  <a:cubicBezTo>
                    <a:pt x="2040078" y="1214456"/>
                    <a:pt x="2035866" y="1224625"/>
                    <a:pt x="2028368" y="1232123"/>
                  </a:cubicBezTo>
                  <a:cubicBezTo>
                    <a:pt x="2020871" y="1239620"/>
                    <a:pt x="2010702" y="1243832"/>
                    <a:pt x="2000098" y="1243832"/>
                  </a:cubicBezTo>
                  <a:lnTo>
                    <a:pt x="39979" y="1243832"/>
                  </a:lnTo>
                  <a:cubicBezTo>
                    <a:pt x="17899" y="1243832"/>
                    <a:pt x="0" y="1225933"/>
                    <a:pt x="0" y="1203853"/>
                  </a:cubicBezTo>
                  <a:lnTo>
                    <a:pt x="0" y="39979"/>
                  </a:lnTo>
                  <a:cubicBezTo>
                    <a:pt x="0" y="29376"/>
                    <a:pt x="4212" y="19207"/>
                    <a:pt x="11710" y="11710"/>
                  </a:cubicBezTo>
                  <a:cubicBezTo>
                    <a:pt x="19207" y="4212"/>
                    <a:pt x="29376" y="0"/>
                    <a:pt x="3997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40078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60994" y="3924350"/>
            <a:ext cx="7073923" cy="3473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Dentro del Alcance</a:t>
            </a:r>
          </a:p>
          <a:p>
            <a:pPr algn="l">
              <a:lnSpc>
                <a:spcPts val="3360"/>
              </a:lnSpc>
            </a:pPr>
            <a:endParaRPr lang="en-US" sz="2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Agendas SOME en 3 especialidades críticas.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Autogestión web y asistente telefónico de voz.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Registro de asistencia y liberación de cupos en Box.</a:t>
            </a:r>
          </a:p>
          <a:p>
            <a:pPr algn="l">
              <a:lnSpc>
                <a:spcPts val="2100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64633" y="904875"/>
            <a:ext cx="1395873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Arquitectura</a:t>
            </a:r>
            <a:r>
              <a:rPr lang="en-US" sz="69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 y Stack Tecnológico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079275" y="8414512"/>
            <a:ext cx="3025746" cy="302574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55039" y="3312387"/>
            <a:ext cx="8211672" cy="4722675"/>
            <a:chOff x="0" y="0"/>
            <a:chExt cx="2162745" cy="12438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62745" cy="1243832"/>
            </a:xfrm>
            <a:custGeom>
              <a:avLst/>
              <a:gdLst/>
              <a:ahLst/>
              <a:cxnLst/>
              <a:rect l="l" t="t" r="r" b="b"/>
              <a:pathLst>
                <a:path w="2162745" h="1243832">
                  <a:moveTo>
                    <a:pt x="37712" y="0"/>
                  </a:moveTo>
                  <a:lnTo>
                    <a:pt x="2125033" y="0"/>
                  </a:lnTo>
                  <a:cubicBezTo>
                    <a:pt x="2145861" y="0"/>
                    <a:pt x="2162745" y="16884"/>
                    <a:pt x="2162745" y="37712"/>
                  </a:cubicBezTo>
                  <a:lnTo>
                    <a:pt x="2162745" y="1206120"/>
                  </a:lnTo>
                  <a:cubicBezTo>
                    <a:pt x="2162745" y="1226948"/>
                    <a:pt x="2145861" y="1243832"/>
                    <a:pt x="2125033" y="1243832"/>
                  </a:cubicBezTo>
                  <a:lnTo>
                    <a:pt x="37712" y="1243832"/>
                  </a:lnTo>
                  <a:cubicBezTo>
                    <a:pt x="16884" y="1243832"/>
                    <a:pt x="0" y="1226948"/>
                    <a:pt x="0" y="1206120"/>
                  </a:cubicBezTo>
                  <a:lnTo>
                    <a:pt x="0" y="37712"/>
                  </a:lnTo>
                  <a:cubicBezTo>
                    <a:pt x="0" y="16884"/>
                    <a:pt x="16884" y="0"/>
                    <a:pt x="37712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62745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429943" y="3831589"/>
            <a:ext cx="7861863" cy="3602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Reactivo</a:t>
            </a: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Modular</a:t>
            </a:r>
          </a:p>
          <a:p>
            <a:pPr algn="l">
              <a:lnSpc>
                <a:spcPts val="3079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Next.js y React: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Renderizado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eficiente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arquitectura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componentes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Tailwind CSS: Sistema de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diseño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accesible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responsivo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Voz: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Microservicio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telefónico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conectado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la API central.</a:t>
            </a: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3312387"/>
            <a:ext cx="7889239" cy="4722675"/>
            <a:chOff x="0" y="0"/>
            <a:chExt cx="2077824" cy="12438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7824" cy="1243832"/>
            </a:xfrm>
            <a:custGeom>
              <a:avLst/>
              <a:gdLst/>
              <a:ahLst/>
              <a:cxnLst/>
              <a:rect l="l" t="t" r="r" b="b"/>
              <a:pathLst>
                <a:path w="2077824" h="1243832">
                  <a:moveTo>
                    <a:pt x="39253" y="0"/>
                  </a:moveTo>
                  <a:lnTo>
                    <a:pt x="2038571" y="0"/>
                  </a:lnTo>
                  <a:cubicBezTo>
                    <a:pt x="2060250" y="0"/>
                    <a:pt x="2077824" y="17574"/>
                    <a:pt x="2077824" y="39253"/>
                  </a:cubicBezTo>
                  <a:lnTo>
                    <a:pt x="2077824" y="1204579"/>
                  </a:lnTo>
                  <a:cubicBezTo>
                    <a:pt x="2077824" y="1214990"/>
                    <a:pt x="2073689" y="1224974"/>
                    <a:pt x="2066327" y="1232335"/>
                  </a:cubicBezTo>
                  <a:cubicBezTo>
                    <a:pt x="2058966" y="1239697"/>
                    <a:pt x="2048982" y="1243832"/>
                    <a:pt x="2038571" y="1243832"/>
                  </a:cubicBezTo>
                  <a:lnTo>
                    <a:pt x="39253" y="1243832"/>
                  </a:lnTo>
                  <a:cubicBezTo>
                    <a:pt x="17574" y="1243832"/>
                    <a:pt x="0" y="1226258"/>
                    <a:pt x="0" y="1204579"/>
                  </a:cubicBezTo>
                  <a:lnTo>
                    <a:pt x="0" y="39253"/>
                  </a:lnTo>
                  <a:cubicBezTo>
                    <a:pt x="0" y="28843"/>
                    <a:pt x="4136" y="18858"/>
                    <a:pt x="11497" y="11497"/>
                  </a:cubicBezTo>
                  <a:cubicBezTo>
                    <a:pt x="18858" y="4136"/>
                    <a:pt x="28843" y="0"/>
                    <a:pt x="39253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077824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61191" y="3831589"/>
            <a:ext cx="7424256" cy="3544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POO &amp; </a:t>
            </a: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Transaccionalidad</a:t>
            </a: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360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TypeScript y Node.js: Dominio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estructurado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clases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fuertemente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tipadas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PostgreSQL + Prisma: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Integridad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relacional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transacciones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ACID.</a:t>
            </a:r>
          </a:p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Faker.js: Generación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sintética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datos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y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algoritmos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1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validación</a:t>
            </a: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RUT.</a:t>
            </a:r>
          </a:p>
          <a:p>
            <a:pPr algn="l">
              <a:lnSpc>
                <a:spcPts val="2100"/>
              </a:lnSpc>
            </a:pPr>
            <a:endParaRPr lang="en-US" sz="21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16950" y="1044653"/>
            <a:ext cx="8254099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Metodología</a:t>
            </a:r>
            <a:endParaRPr lang="en-US" sz="6999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775127" y="-1014398"/>
            <a:ext cx="3025746" cy="302574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515978" y="8580523"/>
            <a:ext cx="4105510" cy="3025746"/>
            <a:chOff x="0" y="0"/>
            <a:chExt cx="1102855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2855" cy="812800"/>
            </a:xfrm>
            <a:custGeom>
              <a:avLst/>
              <a:gdLst/>
              <a:ahLst/>
              <a:cxnLst/>
              <a:rect l="l" t="t" r="r" b="b"/>
              <a:pathLst>
                <a:path w="1102855" h="812800">
                  <a:moveTo>
                    <a:pt x="551427" y="0"/>
                  </a:moveTo>
                  <a:cubicBezTo>
                    <a:pt x="246883" y="0"/>
                    <a:pt x="0" y="181951"/>
                    <a:pt x="0" y="406400"/>
                  </a:cubicBezTo>
                  <a:cubicBezTo>
                    <a:pt x="0" y="630849"/>
                    <a:pt x="246883" y="812800"/>
                    <a:pt x="551427" y="812800"/>
                  </a:cubicBezTo>
                  <a:cubicBezTo>
                    <a:pt x="855972" y="812800"/>
                    <a:pt x="1102855" y="630849"/>
                    <a:pt x="1102855" y="406400"/>
                  </a:cubicBezTo>
                  <a:cubicBezTo>
                    <a:pt x="1102855" y="181951"/>
                    <a:pt x="855972" y="0"/>
                    <a:pt x="55142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393" y="38100"/>
              <a:ext cx="89607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034675" y="2581353"/>
            <a:ext cx="5858063" cy="3354550"/>
            <a:chOff x="0" y="0"/>
            <a:chExt cx="2412618" cy="13815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12618" cy="1381557"/>
            </a:xfrm>
            <a:custGeom>
              <a:avLst/>
              <a:gdLst/>
              <a:ahLst/>
              <a:cxnLst/>
              <a:rect l="l" t="t" r="r" b="b"/>
              <a:pathLst>
                <a:path w="2412618" h="1381557">
                  <a:moveTo>
                    <a:pt x="52863" y="0"/>
                  </a:moveTo>
                  <a:lnTo>
                    <a:pt x="2359755" y="0"/>
                  </a:lnTo>
                  <a:cubicBezTo>
                    <a:pt x="2388951" y="0"/>
                    <a:pt x="2412618" y="23668"/>
                    <a:pt x="2412618" y="52863"/>
                  </a:cubicBezTo>
                  <a:lnTo>
                    <a:pt x="2412618" y="1328694"/>
                  </a:lnTo>
                  <a:cubicBezTo>
                    <a:pt x="2412618" y="1357889"/>
                    <a:pt x="2388951" y="1381557"/>
                    <a:pt x="2359755" y="1381557"/>
                  </a:cubicBezTo>
                  <a:lnTo>
                    <a:pt x="52863" y="1381557"/>
                  </a:lnTo>
                  <a:cubicBezTo>
                    <a:pt x="23668" y="1381557"/>
                    <a:pt x="0" y="1357889"/>
                    <a:pt x="0" y="1328694"/>
                  </a:cubicBezTo>
                  <a:lnTo>
                    <a:pt x="0" y="52863"/>
                  </a:lnTo>
                  <a:cubicBezTo>
                    <a:pt x="0" y="23668"/>
                    <a:pt x="23668" y="0"/>
                    <a:pt x="52863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12618" cy="1419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642137" y="2973705"/>
            <a:ext cx="4747796" cy="252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Estructura Scrumban</a:t>
            </a:r>
          </a:p>
          <a:p>
            <a:pPr algn="l">
              <a:lnSpc>
                <a:spcPts val="294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Combina sprints iterativos para entregas de valor con tablero Kanban para control continuo de flujo de trabajo.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339128" y="2581353"/>
            <a:ext cx="5875506" cy="3354550"/>
            <a:chOff x="0" y="0"/>
            <a:chExt cx="2419802" cy="13815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19802" cy="1381557"/>
            </a:xfrm>
            <a:custGeom>
              <a:avLst/>
              <a:gdLst/>
              <a:ahLst/>
              <a:cxnLst/>
              <a:rect l="l" t="t" r="r" b="b"/>
              <a:pathLst>
                <a:path w="2419802" h="1381557">
                  <a:moveTo>
                    <a:pt x="52706" y="0"/>
                  </a:moveTo>
                  <a:lnTo>
                    <a:pt x="2367096" y="0"/>
                  </a:lnTo>
                  <a:cubicBezTo>
                    <a:pt x="2396205" y="0"/>
                    <a:pt x="2419802" y="23597"/>
                    <a:pt x="2419802" y="52706"/>
                  </a:cubicBezTo>
                  <a:lnTo>
                    <a:pt x="2419802" y="1328851"/>
                  </a:lnTo>
                  <a:cubicBezTo>
                    <a:pt x="2419802" y="1357960"/>
                    <a:pt x="2396205" y="1381557"/>
                    <a:pt x="2367096" y="1381557"/>
                  </a:cubicBezTo>
                  <a:lnTo>
                    <a:pt x="52706" y="1381557"/>
                  </a:lnTo>
                  <a:cubicBezTo>
                    <a:pt x="23597" y="1381557"/>
                    <a:pt x="0" y="1357960"/>
                    <a:pt x="0" y="1328851"/>
                  </a:cubicBezTo>
                  <a:lnTo>
                    <a:pt x="0" y="52706"/>
                  </a:lnTo>
                  <a:cubicBezTo>
                    <a:pt x="0" y="23597"/>
                    <a:pt x="23597" y="0"/>
                    <a:pt x="52706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419802" cy="1419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02983" y="2973705"/>
            <a:ext cx="4747796" cy="208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Backlog Estimado</a:t>
            </a:r>
          </a:p>
          <a:p>
            <a:pPr algn="l">
              <a:lnSpc>
                <a:spcPts val="2949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57 Puntos de Historia / Función distribuidos en 14 actividades técnicas de alta cohesión.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267297" y="6288328"/>
            <a:ext cx="5753406" cy="3354550"/>
            <a:chOff x="0" y="0"/>
            <a:chExt cx="2369516" cy="13815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69516" cy="1381557"/>
            </a:xfrm>
            <a:custGeom>
              <a:avLst/>
              <a:gdLst/>
              <a:ahLst/>
              <a:cxnLst/>
              <a:rect l="l" t="t" r="r" b="b"/>
              <a:pathLst>
                <a:path w="2369516" h="1381557">
                  <a:moveTo>
                    <a:pt x="53825" y="0"/>
                  </a:moveTo>
                  <a:lnTo>
                    <a:pt x="2315691" y="0"/>
                  </a:lnTo>
                  <a:cubicBezTo>
                    <a:pt x="2345417" y="0"/>
                    <a:pt x="2369516" y="24098"/>
                    <a:pt x="2369516" y="53825"/>
                  </a:cubicBezTo>
                  <a:lnTo>
                    <a:pt x="2369516" y="1327732"/>
                  </a:lnTo>
                  <a:cubicBezTo>
                    <a:pt x="2369516" y="1342008"/>
                    <a:pt x="2363845" y="1355698"/>
                    <a:pt x="2353751" y="1365792"/>
                  </a:cubicBezTo>
                  <a:cubicBezTo>
                    <a:pt x="2343657" y="1375886"/>
                    <a:pt x="2329966" y="1381557"/>
                    <a:pt x="2315691" y="1381557"/>
                  </a:cubicBezTo>
                  <a:lnTo>
                    <a:pt x="53825" y="1381557"/>
                  </a:lnTo>
                  <a:cubicBezTo>
                    <a:pt x="39550" y="1381557"/>
                    <a:pt x="25859" y="1375886"/>
                    <a:pt x="15765" y="1365792"/>
                  </a:cubicBezTo>
                  <a:cubicBezTo>
                    <a:pt x="5671" y="1355698"/>
                    <a:pt x="0" y="1342008"/>
                    <a:pt x="0" y="1327732"/>
                  </a:cubicBezTo>
                  <a:lnTo>
                    <a:pt x="0" y="53825"/>
                  </a:lnTo>
                  <a:cubicBezTo>
                    <a:pt x="0" y="39550"/>
                    <a:pt x="5671" y="25859"/>
                    <a:pt x="15765" y="15765"/>
                  </a:cubicBezTo>
                  <a:cubicBezTo>
                    <a:pt x="25859" y="5671"/>
                    <a:pt x="39550" y="0"/>
                    <a:pt x="53825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369516" cy="1419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69076" y="6678853"/>
            <a:ext cx="5149847" cy="252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Poker Planning</a:t>
            </a:r>
          </a:p>
          <a:p>
            <a:pPr algn="l">
              <a:lnSpc>
                <a:spcPts val="2940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Estimación rigurosa de complejidad, incertidumbre y dependencias mediante consenso en serie de Fibonacci.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42253" y="8198327"/>
            <a:ext cx="4105510" cy="3025746"/>
            <a:chOff x="0" y="0"/>
            <a:chExt cx="1102855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02855" cy="812800"/>
            </a:xfrm>
            <a:custGeom>
              <a:avLst/>
              <a:gdLst/>
              <a:ahLst/>
              <a:cxnLst/>
              <a:rect l="l" t="t" r="r" b="b"/>
              <a:pathLst>
                <a:path w="1102855" h="812800">
                  <a:moveTo>
                    <a:pt x="551427" y="0"/>
                  </a:moveTo>
                  <a:cubicBezTo>
                    <a:pt x="246883" y="0"/>
                    <a:pt x="0" y="181951"/>
                    <a:pt x="0" y="406400"/>
                  </a:cubicBezTo>
                  <a:cubicBezTo>
                    <a:pt x="0" y="630849"/>
                    <a:pt x="246883" y="812800"/>
                    <a:pt x="551427" y="812800"/>
                  </a:cubicBezTo>
                  <a:cubicBezTo>
                    <a:pt x="855972" y="812800"/>
                    <a:pt x="1102855" y="630849"/>
                    <a:pt x="1102855" y="406400"/>
                  </a:cubicBezTo>
                  <a:cubicBezTo>
                    <a:pt x="1102855" y="181951"/>
                    <a:pt x="855972" y="0"/>
                    <a:pt x="55142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3393" y="38100"/>
              <a:ext cx="89607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2213559" y="5923108"/>
            <a:ext cx="1378725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4012548" y="5673725"/>
            <a:ext cx="529925" cy="552149"/>
            <a:chOff x="0" y="0"/>
            <a:chExt cx="812800" cy="8468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46888"/>
            </a:xfrm>
            <a:custGeom>
              <a:avLst/>
              <a:gdLst/>
              <a:ahLst/>
              <a:cxnLst/>
              <a:rect l="l" t="t" r="r" b="b"/>
              <a:pathLst>
                <a:path w="812800" h="846888">
                  <a:moveTo>
                    <a:pt x="406400" y="0"/>
                  </a:moveTo>
                  <a:cubicBezTo>
                    <a:pt x="181951" y="0"/>
                    <a:pt x="0" y="189582"/>
                    <a:pt x="0" y="423444"/>
                  </a:cubicBezTo>
                  <a:cubicBezTo>
                    <a:pt x="0" y="657305"/>
                    <a:pt x="181951" y="846888"/>
                    <a:pt x="406400" y="846888"/>
                  </a:cubicBezTo>
                  <a:cubicBezTo>
                    <a:pt x="630849" y="846888"/>
                    <a:pt x="812800" y="657305"/>
                    <a:pt x="812800" y="423444"/>
                  </a:cubicBezTo>
                  <a:cubicBezTo>
                    <a:pt x="812800" y="18958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1296"/>
              <a:ext cx="660400" cy="72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17650" y="904875"/>
            <a:ext cx="8254099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Plan de </a:t>
            </a: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Trabajo</a:t>
            </a:r>
            <a:endParaRPr lang="en-US" sz="6999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779737" y="5658145"/>
            <a:ext cx="529925" cy="552149"/>
            <a:chOff x="0" y="0"/>
            <a:chExt cx="812800" cy="8468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46888"/>
            </a:xfrm>
            <a:custGeom>
              <a:avLst/>
              <a:gdLst/>
              <a:ahLst/>
              <a:cxnLst/>
              <a:rect l="l" t="t" r="r" b="b"/>
              <a:pathLst>
                <a:path w="812800" h="846888">
                  <a:moveTo>
                    <a:pt x="406400" y="0"/>
                  </a:moveTo>
                  <a:cubicBezTo>
                    <a:pt x="181951" y="0"/>
                    <a:pt x="0" y="189582"/>
                    <a:pt x="0" y="423444"/>
                  </a:cubicBezTo>
                  <a:cubicBezTo>
                    <a:pt x="0" y="657305"/>
                    <a:pt x="181951" y="846888"/>
                    <a:pt x="406400" y="846888"/>
                  </a:cubicBezTo>
                  <a:cubicBezTo>
                    <a:pt x="630849" y="846888"/>
                    <a:pt x="812800" y="657305"/>
                    <a:pt x="812800" y="423444"/>
                  </a:cubicBezTo>
                  <a:cubicBezTo>
                    <a:pt x="812800" y="18958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1296"/>
              <a:ext cx="660400" cy="72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19266" y="5658145"/>
            <a:ext cx="529925" cy="552149"/>
            <a:chOff x="0" y="0"/>
            <a:chExt cx="812800" cy="84688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46888"/>
            </a:xfrm>
            <a:custGeom>
              <a:avLst/>
              <a:gdLst/>
              <a:ahLst/>
              <a:cxnLst/>
              <a:rect l="l" t="t" r="r" b="b"/>
              <a:pathLst>
                <a:path w="812800" h="846888">
                  <a:moveTo>
                    <a:pt x="406400" y="0"/>
                  </a:moveTo>
                  <a:cubicBezTo>
                    <a:pt x="181951" y="0"/>
                    <a:pt x="0" y="189582"/>
                    <a:pt x="0" y="423444"/>
                  </a:cubicBezTo>
                  <a:cubicBezTo>
                    <a:pt x="0" y="657305"/>
                    <a:pt x="181951" y="846888"/>
                    <a:pt x="406400" y="846888"/>
                  </a:cubicBezTo>
                  <a:cubicBezTo>
                    <a:pt x="630849" y="846888"/>
                    <a:pt x="812800" y="657305"/>
                    <a:pt x="812800" y="423444"/>
                  </a:cubicBezTo>
                  <a:cubicBezTo>
                    <a:pt x="812800" y="18958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1296"/>
              <a:ext cx="660400" cy="726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02439" y="2436346"/>
            <a:ext cx="7150143" cy="2951629"/>
            <a:chOff x="0" y="0"/>
            <a:chExt cx="3013108" cy="12438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13108" cy="1243832"/>
            </a:xfrm>
            <a:custGeom>
              <a:avLst/>
              <a:gdLst/>
              <a:ahLst/>
              <a:cxnLst/>
              <a:rect l="l" t="t" r="r" b="b"/>
              <a:pathLst>
                <a:path w="3013108" h="1243832">
                  <a:moveTo>
                    <a:pt x="43311" y="0"/>
                  </a:moveTo>
                  <a:lnTo>
                    <a:pt x="2969798" y="0"/>
                  </a:lnTo>
                  <a:cubicBezTo>
                    <a:pt x="2993717" y="0"/>
                    <a:pt x="3013108" y="19391"/>
                    <a:pt x="3013108" y="43311"/>
                  </a:cubicBezTo>
                  <a:lnTo>
                    <a:pt x="3013108" y="1200522"/>
                  </a:lnTo>
                  <a:cubicBezTo>
                    <a:pt x="3013108" y="1224441"/>
                    <a:pt x="2993717" y="1243832"/>
                    <a:pt x="2969798" y="1243832"/>
                  </a:cubicBezTo>
                  <a:lnTo>
                    <a:pt x="43311" y="1243832"/>
                  </a:lnTo>
                  <a:cubicBezTo>
                    <a:pt x="19391" y="1243832"/>
                    <a:pt x="0" y="1224441"/>
                    <a:pt x="0" y="1200522"/>
                  </a:cubicBezTo>
                  <a:lnTo>
                    <a:pt x="0" y="43311"/>
                  </a:lnTo>
                  <a:cubicBezTo>
                    <a:pt x="0" y="19391"/>
                    <a:pt x="19391" y="0"/>
                    <a:pt x="43311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13108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0502" y="2689468"/>
            <a:ext cx="6334016" cy="239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Semanas 1 a 4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1: Definición</a:t>
            </a:r>
          </a:p>
          <a:p>
            <a:pPr algn="l">
              <a:lnSpc>
                <a:spcPts val="2905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Requisitos, diseño de arquitectura, esquemas de BD y validación de reglas de negocio.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109157" y="2436346"/>
            <a:ext cx="7150143" cy="2951629"/>
            <a:chOff x="0" y="0"/>
            <a:chExt cx="3013108" cy="12438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13108" cy="1243832"/>
            </a:xfrm>
            <a:custGeom>
              <a:avLst/>
              <a:gdLst/>
              <a:ahLst/>
              <a:cxnLst/>
              <a:rect l="l" t="t" r="r" b="b"/>
              <a:pathLst>
                <a:path w="3013108" h="1243832">
                  <a:moveTo>
                    <a:pt x="43311" y="0"/>
                  </a:moveTo>
                  <a:lnTo>
                    <a:pt x="2969798" y="0"/>
                  </a:lnTo>
                  <a:cubicBezTo>
                    <a:pt x="2993717" y="0"/>
                    <a:pt x="3013108" y="19391"/>
                    <a:pt x="3013108" y="43311"/>
                  </a:cubicBezTo>
                  <a:lnTo>
                    <a:pt x="3013108" y="1200522"/>
                  </a:lnTo>
                  <a:cubicBezTo>
                    <a:pt x="3013108" y="1224441"/>
                    <a:pt x="2993717" y="1243832"/>
                    <a:pt x="2969798" y="1243832"/>
                  </a:cubicBezTo>
                  <a:lnTo>
                    <a:pt x="43311" y="1243832"/>
                  </a:lnTo>
                  <a:cubicBezTo>
                    <a:pt x="19391" y="1243832"/>
                    <a:pt x="0" y="1224441"/>
                    <a:pt x="0" y="1200522"/>
                  </a:cubicBezTo>
                  <a:lnTo>
                    <a:pt x="0" y="43311"/>
                  </a:lnTo>
                  <a:cubicBezTo>
                    <a:pt x="0" y="19391"/>
                    <a:pt x="19391" y="0"/>
                    <a:pt x="43311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013108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652070" y="2689468"/>
            <a:ext cx="6064317" cy="2397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Semanas 16 a 18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3: Pruebas &amp; Cierre</a:t>
            </a:r>
          </a:p>
          <a:p>
            <a:pPr algn="l">
              <a:lnSpc>
                <a:spcPts val="2905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 de carga y concurrencia, despliegue continuo, manuales y presentación final.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5469628" y="6759570"/>
            <a:ext cx="7150143" cy="2951629"/>
            <a:chOff x="0" y="0"/>
            <a:chExt cx="3013108" cy="12438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13108" cy="1243832"/>
            </a:xfrm>
            <a:custGeom>
              <a:avLst/>
              <a:gdLst/>
              <a:ahLst/>
              <a:cxnLst/>
              <a:rect l="l" t="t" r="r" b="b"/>
              <a:pathLst>
                <a:path w="3013108" h="1243832">
                  <a:moveTo>
                    <a:pt x="43311" y="0"/>
                  </a:moveTo>
                  <a:lnTo>
                    <a:pt x="2969798" y="0"/>
                  </a:lnTo>
                  <a:cubicBezTo>
                    <a:pt x="2993717" y="0"/>
                    <a:pt x="3013108" y="19391"/>
                    <a:pt x="3013108" y="43311"/>
                  </a:cubicBezTo>
                  <a:lnTo>
                    <a:pt x="3013108" y="1200522"/>
                  </a:lnTo>
                  <a:cubicBezTo>
                    <a:pt x="3013108" y="1224441"/>
                    <a:pt x="2993717" y="1243832"/>
                    <a:pt x="2969798" y="1243832"/>
                  </a:cubicBezTo>
                  <a:lnTo>
                    <a:pt x="43311" y="1243832"/>
                  </a:lnTo>
                  <a:cubicBezTo>
                    <a:pt x="19391" y="1243832"/>
                    <a:pt x="0" y="1224441"/>
                    <a:pt x="0" y="1200522"/>
                  </a:cubicBezTo>
                  <a:lnTo>
                    <a:pt x="0" y="43311"/>
                  </a:lnTo>
                  <a:cubicBezTo>
                    <a:pt x="0" y="19391"/>
                    <a:pt x="19391" y="0"/>
                    <a:pt x="43311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13108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816971" y="7012692"/>
            <a:ext cx="6455456" cy="243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Semanas 5 a 15</a:t>
            </a:r>
          </a:p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Fase 2: Desarrollo</a:t>
            </a:r>
          </a:p>
          <a:p>
            <a:pPr algn="l">
              <a:lnSpc>
                <a:spcPts val="2905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80"/>
              </a:lnSpc>
            </a:pP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Construcción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concurrente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Las API Backend, UI Frontend y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microservicio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asistente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 </a:t>
            </a:r>
            <a:r>
              <a:rPr lang="en-US" sz="2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voz</a:t>
            </a:r>
            <a:r>
              <a:rPr lang="en-US" sz="2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080"/>
              </a:lnSpc>
            </a:pPr>
            <a:endParaRPr lang="en-US" sz="2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16312786" y="7885436"/>
            <a:ext cx="4105510" cy="3025746"/>
            <a:chOff x="0" y="0"/>
            <a:chExt cx="1102855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2855" cy="812800"/>
            </a:xfrm>
            <a:custGeom>
              <a:avLst/>
              <a:gdLst/>
              <a:ahLst/>
              <a:cxnLst/>
              <a:rect l="l" t="t" r="r" b="b"/>
              <a:pathLst>
                <a:path w="1102855" h="812800">
                  <a:moveTo>
                    <a:pt x="551427" y="0"/>
                  </a:moveTo>
                  <a:cubicBezTo>
                    <a:pt x="246883" y="0"/>
                    <a:pt x="0" y="181951"/>
                    <a:pt x="0" y="406400"/>
                  </a:cubicBezTo>
                  <a:cubicBezTo>
                    <a:pt x="0" y="630849"/>
                    <a:pt x="246883" y="812800"/>
                    <a:pt x="551427" y="812800"/>
                  </a:cubicBezTo>
                  <a:cubicBezTo>
                    <a:pt x="855972" y="812800"/>
                    <a:pt x="1102855" y="630849"/>
                    <a:pt x="1102855" y="406400"/>
                  </a:cubicBezTo>
                  <a:cubicBezTo>
                    <a:pt x="1102855" y="181951"/>
                    <a:pt x="855972" y="0"/>
                    <a:pt x="55142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393" y="38100"/>
              <a:ext cx="89607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54969" y="250637"/>
            <a:ext cx="778063" cy="778063"/>
          </a:xfrm>
          <a:custGeom>
            <a:avLst/>
            <a:gdLst/>
            <a:ahLst/>
            <a:cxnLst/>
            <a:rect l="l" t="t" r="r" b="b"/>
            <a:pathLst>
              <a:path w="778063" h="778063">
                <a:moveTo>
                  <a:pt x="0" y="0"/>
                </a:moveTo>
                <a:lnTo>
                  <a:pt x="778062" y="0"/>
                </a:lnTo>
                <a:lnTo>
                  <a:pt x="778062" y="778063"/>
                </a:lnTo>
                <a:lnTo>
                  <a:pt x="0" y="7780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3518304" y="904875"/>
            <a:ext cx="11251391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Garantía</a:t>
            </a:r>
            <a:r>
              <a:rPr lang="en-US" sz="6999" dirty="0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 de </a:t>
            </a:r>
            <a:r>
              <a:rPr lang="en-US" sz="6999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Factibilidad</a:t>
            </a:r>
            <a:endParaRPr lang="en-US" sz="6999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079275" y="8414512"/>
            <a:ext cx="3025746" cy="302574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9807" tIns="49807" rIns="49807" bIns="49807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446111" y="2998542"/>
            <a:ext cx="6608718" cy="2951629"/>
            <a:chOff x="0" y="0"/>
            <a:chExt cx="2784949" cy="12438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33171" y="2998542"/>
            <a:ext cx="6608718" cy="2951629"/>
            <a:chOff x="0" y="0"/>
            <a:chExt cx="2784949" cy="12438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46111" y="6110408"/>
            <a:ext cx="6608718" cy="2951629"/>
            <a:chOff x="0" y="0"/>
            <a:chExt cx="2784949" cy="124383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233171" y="6110408"/>
            <a:ext cx="6608718" cy="2951629"/>
            <a:chOff x="0" y="0"/>
            <a:chExt cx="2784949" cy="124383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84949" cy="1243832"/>
            </a:xfrm>
            <a:custGeom>
              <a:avLst/>
              <a:gdLst/>
              <a:ahLst/>
              <a:cxnLst/>
              <a:rect l="l" t="t" r="r" b="b"/>
              <a:pathLst>
                <a:path w="2784949" h="1243832">
                  <a:moveTo>
                    <a:pt x="46859" y="0"/>
                  </a:moveTo>
                  <a:lnTo>
                    <a:pt x="2738091" y="0"/>
                  </a:lnTo>
                  <a:cubicBezTo>
                    <a:pt x="2750518" y="0"/>
                    <a:pt x="2762437" y="4937"/>
                    <a:pt x="2771225" y="13725"/>
                  </a:cubicBezTo>
                  <a:cubicBezTo>
                    <a:pt x="2780012" y="22512"/>
                    <a:pt x="2784949" y="34431"/>
                    <a:pt x="2784949" y="46859"/>
                  </a:cubicBezTo>
                  <a:lnTo>
                    <a:pt x="2784949" y="1196973"/>
                  </a:lnTo>
                  <a:cubicBezTo>
                    <a:pt x="2784949" y="1209401"/>
                    <a:pt x="2780012" y="1221320"/>
                    <a:pt x="2771225" y="1230108"/>
                  </a:cubicBezTo>
                  <a:cubicBezTo>
                    <a:pt x="2762437" y="1238895"/>
                    <a:pt x="2750518" y="1243832"/>
                    <a:pt x="2738091" y="1243832"/>
                  </a:cubicBezTo>
                  <a:lnTo>
                    <a:pt x="46859" y="1243832"/>
                  </a:lnTo>
                  <a:cubicBezTo>
                    <a:pt x="34431" y="1243832"/>
                    <a:pt x="22512" y="1238895"/>
                    <a:pt x="13725" y="1230108"/>
                  </a:cubicBezTo>
                  <a:cubicBezTo>
                    <a:pt x="4937" y="1221320"/>
                    <a:pt x="0" y="1209401"/>
                    <a:pt x="0" y="1196973"/>
                  </a:cubicBezTo>
                  <a:lnTo>
                    <a:pt x="0" y="46859"/>
                  </a:lnTo>
                  <a:cubicBezTo>
                    <a:pt x="0" y="34431"/>
                    <a:pt x="4937" y="22512"/>
                    <a:pt x="13725" y="13725"/>
                  </a:cubicBezTo>
                  <a:cubicBezTo>
                    <a:pt x="22512" y="4937"/>
                    <a:pt x="34431" y="0"/>
                    <a:pt x="46859" y="0"/>
                  </a:cubicBezTo>
                  <a:close/>
                </a:path>
              </a:pathLst>
            </a:custGeom>
            <a:solidFill>
              <a:srgbClr val="E1DBCD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784949" cy="1281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812487" y="3223089"/>
            <a:ext cx="5450086" cy="248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Privacidad</a:t>
            </a: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Datos </a:t>
            </a:r>
            <a:r>
              <a:rPr lang="en-US" sz="24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Sintéticos</a:t>
            </a: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744"/>
              </a:lnSpc>
            </a:pPr>
            <a:endParaRPr lang="en-US" sz="24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Generación de población de </a:t>
            </a:r>
            <a:r>
              <a:rPr lang="en-US" sz="21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prueba</a:t>
            </a:r>
            <a:r>
              <a:rPr lang="en-US" sz="21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con RUT </a:t>
            </a:r>
            <a:r>
              <a:rPr lang="en-US" sz="21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válidos</a:t>
            </a:r>
            <a:r>
              <a:rPr lang="en-US" sz="21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sin </a:t>
            </a:r>
            <a:r>
              <a:rPr lang="en-US" sz="21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comprometer</a:t>
            </a:r>
            <a:r>
              <a:rPr lang="en-US" sz="21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</a:t>
            </a:r>
            <a:r>
              <a:rPr lang="en-US" sz="2199" i="1" dirty="0" err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datos</a:t>
            </a:r>
            <a:r>
              <a:rPr lang="en-US" sz="2199" i="1" dirty="0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 reales.</a:t>
            </a:r>
          </a:p>
          <a:p>
            <a:pPr algn="l">
              <a:lnSpc>
                <a:spcPts val="3079"/>
              </a:lnSpc>
            </a:pPr>
            <a:endParaRPr lang="en-US" sz="2199" i="1" dirty="0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12487" y="6530217"/>
            <a:ext cx="5354541" cy="206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Evidencias Comprometidas</a:t>
            </a:r>
          </a:p>
          <a:p>
            <a:pPr algn="l">
              <a:lnSpc>
                <a:spcPts val="3744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Informes de pruebas de concurrencia, manuales de despliegue y software operativo.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01541" y="6334955"/>
            <a:ext cx="5274919" cy="245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Arquitectura Desacoplada</a:t>
            </a:r>
          </a:p>
          <a:p>
            <a:pPr algn="l">
              <a:lnSpc>
                <a:spcPts val="3744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Canal de voz aislado para evitar cuellos de botella en el núcleo transaccional.</a:t>
            </a:r>
          </a:p>
          <a:p>
            <a:pPr algn="l">
              <a:lnSpc>
                <a:spcPts val="3079"/>
              </a:lnSpc>
            </a:pPr>
            <a:endParaRPr lang="en-US" sz="21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01541" y="3223089"/>
            <a:ext cx="5497859" cy="2454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Entorno Reproducible</a:t>
            </a:r>
          </a:p>
          <a:p>
            <a:pPr algn="l">
              <a:lnSpc>
                <a:spcPts val="3744"/>
              </a:lnSpc>
            </a:pPr>
            <a:endParaRPr lang="en-US" sz="24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9"/>
              </a:lnSpc>
            </a:pPr>
            <a:r>
              <a:rPr lang="en-US" sz="2199" i="1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Contenedores Docker e integración continua en GitHub con ramas institucionales.</a:t>
            </a:r>
          </a:p>
          <a:p>
            <a:pPr algn="l">
              <a:lnSpc>
                <a:spcPts val="3079"/>
              </a:lnSpc>
            </a:pPr>
            <a:endParaRPr lang="en-US" sz="2199" i="1">
              <a:solidFill>
                <a:srgbClr val="000000"/>
              </a:solidFill>
              <a:latin typeface="Canva Sans Italics"/>
              <a:ea typeface="Canva Sans Italics"/>
              <a:cs typeface="Canva Sans Italics"/>
              <a:sym typeface="Canva Sans Itali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2816" y="-1004326"/>
            <a:ext cx="21033631" cy="12189120"/>
            <a:chOff x="0" y="0"/>
            <a:chExt cx="28044842" cy="16252159"/>
          </a:xfrm>
        </p:grpSpPr>
        <p:grpSp>
          <p:nvGrpSpPr>
            <p:cNvPr id="3" name="Group 3"/>
            <p:cNvGrpSpPr/>
            <p:nvPr/>
          </p:nvGrpSpPr>
          <p:grpSpPr>
            <a:xfrm>
              <a:off x="23930042" y="0"/>
              <a:ext cx="4114800" cy="4114800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12137359"/>
              <a:ext cx="4114800" cy="4114800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2496766" y="11737256"/>
              <a:ext cx="1410511" cy="141051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4201704" y="2687867"/>
            <a:ext cx="9884592" cy="245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0"/>
              </a:lnSpc>
            </a:pPr>
            <a:r>
              <a:rPr lang="en-US" sz="14321" dirty="0" err="1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Conclusión</a:t>
            </a:r>
            <a:endParaRPr lang="en-US" sz="14321" dirty="0">
              <a:solidFill>
                <a:srgbClr val="000000"/>
              </a:solidFill>
              <a:latin typeface="Abril Fatface"/>
              <a:ea typeface="Abril Fatface"/>
              <a:cs typeface="Abril Fatface"/>
              <a:sym typeface="Abril Fatfa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45350" y="5234096"/>
            <a:ext cx="10597301" cy="869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MALLASALUD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une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solidez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arquitectura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 software con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impacto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humano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directo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para la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salud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pública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5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chilena</a:t>
            </a:r>
            <a:r>
              <a:rPr lang="en-US" sz="2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39705" y="7974433"/>
            <a:ext cx="6208589" cy="537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Preguntas</a:t>
            </a: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 </a:t>
            </a:r>
            <a:r>
              <a:rPr lang="en-US" sz="32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comentarios</a:t>
            </a: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908453" y="8041779"/>
            <a:ext cx="3086100" cy="308610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076199" y="7696628"/>
            <a:ext cx="1664509" cy="166450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854116" y="-888955"/>
            <a:ext cx="3086100" cy="308610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213703" y="1291400"/>
            <a:ext cx="1734280" cy="173428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656</Words>
  <Application>Microsoft Office PowerPoint</Application>
  <PresentationFormat>Personalizado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Calibri</vt:lpstr>
      <vt:lpstr>Canva Sans</vt:lpstr>
      <vt:lpstr>Canva Sans Bold</vt:lpstr>
      <vt:lpstr>Canva Sans Italics</vt:lpstr>
      <vt:lpstr>Abril Fatface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Group Project Presentation</dc:title>
  <cp:lastModifiedBy>PABLO BENJAMIN CARRASCO MANCILLA</cp:lastModifiedBy>
  <cp:revision>5</cp:revision>
  <dcterms:created xsi:type="dcterms:W3CDTF">2006-08-16T00:00:00Z</dcterms:created>
  <dcterms:modified xsi:type="dcterms:W3CDTF">2026-08-30T23:48:10Z</dcterms:modified>
  <dc:identifier>DAHTtM-v_y8</dc:identifier>
</cp:coreProperties>
</file>